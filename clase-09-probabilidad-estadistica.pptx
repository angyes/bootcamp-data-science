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73" r:id="rId9"/>
    <p:sldId id="266" r:id="rId10"/>
    <p:sldId id="272" r:id="rId11"/>
    <p:sldId id="267" r:id="rId12"/>
    <p:sldId id="268" r:id="rId13"/>
    <p:sldId id="269" r:id="rId14"/>
    <p:sldId id="270" r:id="rId15"/>
  </p:sldIdLst>
  <p:sldSz cx="12188825" cy="6858000"/>
  <p:notesSz cx="6858000" cy="1218882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Clase 9 · Probabilidad y estadística. Material: cuaderno probabilidad-estadistica-estudiante.ipynb y domicilios.csv (240 pedidos de septiembre de la empresa ficticia Rápido). Compartir ambos antes de empezar.</a:t>
            </a: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" name="Google Shape;2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Abrir con la pregunta del salario promedio del país: pedir que cada quien escriba su respuesta en el cuaderno. Se retoma en la puesta en común.</a:t>
            </a:r>
            <a:endParaRPr/>
          </a:p>
        </p:txBody>
      </p:sp>
      <p:sp>
        <p:nvSpPr>
          <p:cNvPr id="66" name="Google Shape;6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Chequeo rápido: la media sube mucho y la mediana casi no cambia. Es la idea central de la clase.</a:t>
            </a:r>
            <a:endParaRPr/>
          </a:p>
        </p:txBody>
      </p:sp>
      <p:sp>
        <p:nvSpPr>
          <p:cNvPr id="187" name="Google Shape;18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Ejecutar df.describe().round(1) en vivo y leer la tabla columna por columna. La std del valor mayor que la media es la pista del pedido corporativo 1058.</a:t>
            </a:r>
            <a:endParaRPr/>
          </a:p>
        </p:txBody>
      </p:sp>
      <p:sp>
        <p:nvSpPr>
          <p:cNvPr id="249" name="Google Shape;24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6" name="Google Shape;35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P(tarde) = 29/240 = 12,1 %. P(tarde | lluvia) = 18/64 = 28,1 %. P(tarde | sin lluvia) = 11/176 = 6,2 %.</a:t>
            </a:r>
            <a:endParaRPr/>
          </a:p>
        </p:txBody>
      </p:sp>
      <p:sp>
        <p:nvSpPr>
          <p:cNvPr id="357" name="Google Shape;357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Actividad para la casa, al final del cuaderno. Respuestas esperadas: distancia sin atípicos (límites -1,5 y 11,5 km); P(calificación de 3 o menos) = 20,4 % y con lluvia 39,1 %, así que no son independientes. Respuestas completas en el cuaderno docente.</a:t>
            </a:r>
            <a:endParaRPr/>
          </a:p>
        </p:txBody>
      </p:sp>
      <p:sp>
        <p:nvSpPr>
          <p:cNvPr id="376" name="Google Shape;376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0" name="Google Shape;41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Construir las recomendaciones entre todos antes de mostrarlas. Si nadie lo menciona, preguntar: ¿la distancia causa la mala calificación? Llevar a la idea de que la causa es la demora.</a:t>
            </a:r>
            <a:endParaRPr/>
          </a:p>
        </p:txBody>
      </p:sp>
      <p:sp>
        <p:nvSpPr>
          <p:cNvPr id="411" name="Google Shape;411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3" name="Google Shape;43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assets/bg_portada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8895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assets/logo_blanc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20" y="384048"/>
            <a:ext cx="1234440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502920" y="22860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0DE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00A0DE"/>
                </a:solidFill>
                <a:latin typeface="Arial"/>
                <a:ea typeface="Arial"/>
                <a:cs typeface="Arial"/>
                <a:sym typeface="Arial"/>
              </a:rPr>
              <a:t>MÓDULO 3 · VISUALIZACIÓN Y BUSINESS INTELLIGENCE · CLASE 9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02920" y="2697480"/>
            <a:ext cx="107899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Probabilidad y estadística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02920" y="361188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0DE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00A0DE"/>
                </a:solidFill>
                <a:latin typeface="Arial"/>
                <a:ea typeface="Arial"/>
                <a:cs typeface="Arial"/>
                <a:sym typeface="Arial"/>
              </a:rPr>
              <a:t>Lo que un promedio no te cuenta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02920" y="466344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D6DE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C9D6DE"/>
                </a:solidFill>
                <a:latin typeface="Arial"/>
                <a:ea typeface="Arial"/>
                <a:cs typeface="Arial"/>
                <a:sym typeface="Arial"/>
              </a:rPr>
              <a:t>Bootcamp de Ciencia de Datos · 2 horas · Medidas, correlación y probabilidad con Pandas, aplicadas a un negocio de domicilios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4" descr="assets/banda_superio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889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/>
          <p:nvPr/>
        </p:nvSpPr>
        <p:spPr>
          <a:xfrm>
            <a:off x="502920" y="115214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BIENVENIDA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02920" y="1426464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El mapa del bootcamp: 6 módulos, 33 clases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Bootcamp de Ciencia de Datos · Clase 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02920" y="214884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E8F4F9"/>
          </a:solidFill>
          <a:ln w="12700" cap="flat" cmpd="sng">
            <a:solidFill>
              <a:srgbClr val="D7E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685800" y="2295144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0DE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MÓDULO 1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85800" y="2551176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Fundamentos y Mentalidad de Datos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685800" y="3044952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FE0EC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Completado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6281928" y="214884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013A52"/>
          </a:solidFill>
          <a:ln w="12700" cap="flat" cmpd="sng">
            <a:solidFill>
              <a:srgbClr val="013A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6464808" y="2295144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00A0DE"/>
                </a:solidFill>
                <a:latin typeface="Arial"/>
                <a:ea typeface="Arial"/>
                <a:cs typeface="Arial"/>
                <a:sym typeface="Arial"/>
              </a:rPr>
              <a:t>MÓDULO 3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464808" y="2551176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Visualización y Business Intelligence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6464808" y="3044952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BFE0EC"/>
                </a:solidFill>
                <a:latin typeface="Arial"/>
                <a:ea typeface="Arial"/>
                <a:cs typeface="Arial"/>
                <a:sym typeface="Arial"/>
              </a:rPr>
              <a:t>Estamos aquí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3392424" y="214884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E8F4F9"/>
          </a:solidFill>
          <a:ln w="12700" cap="flat" cmpd="sng">
            <a:solidFill>
              <a:srgbClr val="D7E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3575304" y="2295144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MÓDULO 2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3575304" y="2551176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Python para Análisis de Datos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3575304" y="3044952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Completado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9171432" y="214884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E8F4F9"/>
          </a:solidFill>
          <a:ln w="12700" cap="flat" cmpd="sng">
            <a:solidFill>
              <a:srgbClr val="D7E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9354312" y="2295144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MÓDULO 4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9354312" y="2551176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Extracción de Datos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9354312" y="3044952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Bases de datos, SQL, APIs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502920" y="370332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E8F4F9"/>
          </a:solidFill>
          <a:ln w="12700" cap="flat" cmpd="sng">
            <a:solidFill>
              <a:srgbClr val="D7E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685800" y="3849624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MÓDULO 5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685800" y="4105656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Machine Learning Básico y Aplicado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85800" y="4599432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Clasificación, regresión, clustering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3392424" y="370332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E8F4F9"/>
          </a:solidFill>
          <a:ln w="12700" cap="flat" cmpd="sng">
            <a:solidFill>
              <a:srgbClr val="D7E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3575304" y="3849624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MÓDULO 6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3575304" y="4105656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Proyecto Final y Cierre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3575304" y="4599432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Deep Learning, NLP, tu proyecto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6281928" y="370332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E8F4F9"/>
          </a:solidFill>
          <a:ln w="12700" cap="flat" cmpd="sng">
            <a:solidFill>
              <a:srgbClr val="D7E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6464808" y="3849624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33 CLASES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6464808" y="4105656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Tu recorrido completo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6464808" y="4599432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Mayo a septiembre, 2 clases por semana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9171432" y="370332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 cap="flat" cmpd="sng">
            <a:solidFill>
              <a:srgbClr val="E08A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9354312" y="3849624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8A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E08A00"/>
                </a:solidFill>
                <a:latin typeface="Arial"/>
                <a:ea typeface="Arial"/>
                <a:cs typeface="Arial"/>
                <a:sym typeface="Arial"/>
              </a:rPr>
              <a:t>CÓMO TRABAJAMOS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9354312" y="4105656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Teoría + práctica en cada módulo · talleres integradores · proyecto final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02920" y="5349240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400"/>
              <a:buFont typeface="Arial"/>
              <a:buNone/>
            </a:pPr>
            <a:r>
              <a:rPr lang="en-US" sz="1400" b="0" i="1" u="none" strike="noStrike" cap="non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Hoy aprendes a leer los datos con números: es la base de toda gráfica y de todo tablero.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5" descr="assets/banda_superio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889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5"/>
          <p:cNvSpPr/>
          <p:nvPr/>
        </p:nvSpPr>
        <p:spPr>
          <a:xfrm>
            <a:off x="502920" y="115214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POR QUÉ HOY IMPORTA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502920" y="1426464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Un promedio puede engañar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Bootcamp de Ciencia de Datos · Clase 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502920" y="2103120"/>
            <a:ext cx="5029200" cy="3977640"/>
          </a:xfrm>
          <a:prstGeom prst="roundRect">
            <a:avLst>
              <a:gd name="adj" fmla="val 2299"/>
            </a:avLst>
          </a:prstGeom>
          <a:solidFill>
            <a:srgbClr val="013A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1600200" y="2441448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 número, muchas historias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868680" y="3200400"/>
            <a:ext cx="42976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0DE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00A0DE"/>
                </a:solidFill>
                <a:latin typeface="Arial"/>
                <a:ea typeface="Arial"/>
                <a:cs typeface="Arial"/>
                <a:sym typeface="Arial"/>
              </a:rPr>
              <a:t>Lo que la estadística te enseña a preguntar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868680" y="3977640"/>
            <a:ext cx="434340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524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E6F1F7"/>
              </a:buClr>
              <a:buSzPts val="1350"/>
              <a:buFont typeface="Arial"/>
              <a:buChar char="•"/>
            </a:pPr>
            <a:r>
              <a:rPr lang="en-US" sz="1350" b="0" i="0" u="none" strike="noStrike" cap="none">
                <a:solidFill>
                  <a:srgbClr val="E6F1F7"/>
                </a:solidFill>
                <a:latin typeface="Arial"/>
                <a:ea typeface="Arial"/>
                <a:cs typeface="Arial"/>
                <a:sym typeface="Arial"/>
              </a:rPr>
              <a:t>La gerencia de Rápido dice que su pedido promedio supera los $55.000.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52400" marR="0" lvl="0" indent="-152400" algn="l" rtl="0">
              <a:spcBef>
                <a:spcPts val="1000"/>
              </a:spcBef>
              <a:spcAft>
                <a:spcPts val="0"/>
              </a:spcAft>
              <a:buClr>
                <a:srgbClr val="E6F1F7"/>
              </a:buClr>
              <a:buSzPts val="1350"/>
              <a:buFont typeface="Arial"/>
              <a:buChar char="•"/>
            </a:pPr>
            <a:r>
              <a:rPr lang="en-US" sz="1350" b="0" i="0" u="none" strike="noStrike" cap="none">
                <a:solidFill>
                  <a:srgbClr val="E6F1F7"/>
                </a:solidFill>
                <a:latin typeface="Arial"/>
                <a:ea typeface="Arial"/>
                <a:cs typeface="Arial"/>
                <a:sym typeface="Arial"/>
              </a:rPr>
              <a:t>Pero la mitad de los pedidos vale $41.000 o menos: un solo pedido corporativo infla la cifra.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52400" marR="0" lvl="0" indent="-152400" algn="l" rtl="0">
              <a:spcBef>
                <a:spcPts val="1000"/>
              </a:spcBef>
              <a:spcAft>
                <a:spcPts val="0"/>
              </a:spcAft>
              <a:buClr>
                <a:srgbClr val="E6F1F7"/>
              </a:buClr>
              <a:buSzPts val="1350"/>
              <a:buFont typeface="Arial"/>
              <a:buChar char="•"/>
            </a:pPr>
            <a:r>
              <a:rPr lang="en-US" sz="1350" b="0" i="0" u="none" strike="noStrike" cap="none">
                <a:solidFill>
                  <a:srgbClr val="E6F1F7"/>
                </a:solidFill>
                <a:latin typeface="Arial"/>
                <a:ea typeface="Arial"/>
                <a:cs typeface="Arial"/>
                <a:sym typeface="Arial"/>
              </a:rPr>
              <a:t>Las tres sucursales tardan en promedio 35 minutos, pero Sur llega tarde cuatro veces más que Norte.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52400" marR="0" lvl="0" indent="-152400" algn="l" rtl="0">
              <a:spcBef>
                <a:spcPts val="1000"/>
              </a:spcBef>
              <a:spcAft>
                <a:spcPts val="0"/>
              </a:spcAft>
              <a:buClr>
                <a:srgbClr val="E6F1F7"/>
              </a:buClr>
              <a:buSzPts val="1350"/>
              <a:buFont typeface="Arial"/>
              <a:buChar char="•"/>
            </a:pPr>
            <a:r>
              <a:rPr lang="en-US" sz="1350" b="0" i="0" u="none" strike="noStrike" cap="none">
                <a:solidFill>
                  <a:srgbClr val="E6F1F7"/>
                </a:solidFill>
                <a:latin typeface="Arial"/>
                <a:ea typeface="Arial"/>
                <a:cs typeface="Arial"/>
                <a:sym typeface="Arial"/>
              </a:rPr>
              <a:t>La estadística te ayuda a ver lo que un solo número esconde.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5989320" y="21031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¿Por qué justo ahora?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989320" y="2606040"/>
            <a:ext cx="5669280" cy="1051560"/>
          </a:xfrm>
          <a:prstGeom prst="roundRect">
            <a:avLst>
              <a:gd name="adj" fmla="val 7826"/>
            </a:avLst>
          </a:prstGeom>
          <a:solidFill>
            <a:srgbClr val="E8F4F9"/>
          </a:solidFill>
          <a:ln w="12700" cap="flat" cmpd="sng">
            <a:solidFill>
              <a:srgbClr val="D7E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9" name="Google Shape;79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63640" y="290779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5"/>
          <p:cNvSpPr/>
          <p:nvPr/>
        </p:nvSpPr>
        <p:spPr>
          <a:xfrm>
            <a:off x="6903720" y="2752344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Ya sabes limpiar y resumir datos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6903720" y="3063240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En el módulo anterior preparaste tablas con Pandas. Hoy aprendes a leerlas con criterio.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5989320" y="3813048"/>
            <a:ext cx="5669280" cy="1051560"/>
          </a:xfrm>
          <a:prstGeom prst="roundRect">
            <a:avLst>
              <a:gd name="adj" fmla="val 7826"/>
            </a:avLst>
          </a:prstGeom>
          <a:solidFill>
            <a:srgbClr val="E8F4F9"/>
          </a:solidFill>
          <a:ln w="12700" cap="flat" cmpd="sng">
            <a:solidFill>
              <a:srgbClr val="D7E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3" name="Google Shape;83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63640" y="41148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5"/>
          <p:cNvSpPr/>
          <p:nvPr/>
        </p:nvSpPr>
        <p:spPr>
          <a:xfrm>
            <a:off x="6903720" y="395935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Cada decisión se apoya en números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6903720" y="4270248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Metas, alertas y prioridades salen de medidas como la mediana o un percentil.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5989320" y="5020056"/>
            <a:ext cx="5669280" cy="1051560"/>
          </a:xfrm>
          <a:prstGeom prst="roundRect">
            <a:avLst>
              <a:gd name="adj" fmla="val 7826"/>
            </a:avLst>
          </a:prstGeom>
          <a:solidFill>
            <a:srgbClr val="E8F4F9"/>
          </a:solidFill>
          <a:ln w="12700" cap="flat" cmpd="sng">
            <a:solidFill>
              <a:srgbClr val="D7E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" name="Google Shape;87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63640" y="532180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"/>
          <p:cNvSpPr/>
          <p:nvPr/>
        </p:nvSpPr>
        <p:spPr>
          <a:xfrm>
            <a:off x="6903720" y="51663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Prepara el terreno para las gráficas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6903720" y="5477256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Un histograma o un diagrama de caja muestran estas mismas medidas.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5989320" y="6217920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1150"/>
              <a:buFont typeface="Arial"/>
              <a:buNone/>
            </a:pPr>
            <a:r>
              <a:rPr lang="en-US" sz="1150" b="0" i="1" u="none" strike="noStrike" cap="non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Hoy aprendes a describir un negocio con pocos números, y a desconfiar del promedio.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6" descr="assets/banda_superio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889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6"/>
          <p:cNvSpPr/>
          <p:nvPr/>
        </p:nvSpPr>
        <p:spPr>
          <a:xfrm>
            <a:off x="502920" y="115214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CLASE 9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502920" y="1426464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Lo que vamos a lograr hoy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Bootcamp de Ciencia de Datos · Clase 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502920" y="2148840"/>
            <a:ext cx="3575304" cy="3291840"/>
          </a:xfrm>
          <a:prstGeom prst="roundRect">
            <a:avLst>
              <a:gd name="adj" fmla="val 2778"/>
            </a:avLst>
          </a:prstGeom>
          <a:solidFill>
            <a:srgbClr val="E8F4F9"/>
          </a:solidFill>
          <a:ln w="12700" cap="flat" cmpd="sng">
            <a:solidFill>
              <a:srgbClr val="D7E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822960" y="2514600"/>
            <a:ext cx="868680" cy="86868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89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" name="Google Shape;102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4128" y="2715768"/>
            <a:ext cx="466344" cy="46634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6"/>
          <p:cNvSpPr/>
          <p:nvPr/>
        </p:nvSpPr>
        <p:spPr>
          <a:xfrm>
            <a:off x="3118104" y="2377440"/>
            <a:ext cx="777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7E3EA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D7E3E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822960" y="3657600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Resumir con el número correcto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822960" y="4114800"/>
            <a:ext cx="2971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50"/>
              <a:buFont typeface="Arial"/>
              <a:buNone/>
            </a:pPr>
            <a:r>
              <a:rPr lang="en-US" sz="1250" b="0" i="0" u="none" strike="noStrike" cap="non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Elegir entre media, mediana y moda según la forma de los datos y sus valores extremos.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306824" y="2148840"/>
            <a:ext cx="3575304" cy="3291840"/>
          </a:xfrm>
          <a:prstGeom prst="roundRect">
            <a:avLst>
              <a:gd name="adj" fmla="val 2778"/>
            </a:avLst>
          </a:prstGeom>
          <a:solidFill>
            <a:srgbClr val="E8F4F9"/>
          </a:solidFill>
          <a:ln w="12700" cap="flat" cmpd="sng">
            <a:solidFill>
              <a:srgbClr val="D7E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4626864" y="2514600"/>
            <a:ext cx="868680" cy="86868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89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8" name="Google Shape;108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28032" y="2715768"/>
            <a:ext cx="466344" cy="46634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6"/>
          <p:cNvSpPr/>
          <p:nvPr/>
        </p:nvSpPr>
        <p:spPr>
          <a:xfrm>
            <a:off x="6922008" y="2377440"/>
            <a:ext cx="777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7E3EA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D7E3E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4626864" y="3657600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Medir la variación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4626864" y="4114800"/>
            <a:ext cx="2971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50"/>
              <a:buFont typeface="Arial"/>
              <a:buNone/>
            </a:pPr>
            <a:r>
              <a:rPr lang="en-US" sz="1250" b="0" i="0" u="none" strike="noStrike" cap="non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Usar desviación estándar, rango intercuartílico y percentiles para comparar y fijar umbrales.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8110728" y="2148840"/>
            <a:ext cx="3575304" cy="3291840"/>
          </a:xfrm>
          <a:prstGeom prst="roundRect">
            <a:avLst>
              <a:gd name="adj" fmla="val 2778"/>
            </a:avLst>
          </a:prstGeom>
          <a:solidFill>
            <a:srgbClr val="E8F4F9"/>
          </a:solidFill>
          <a:ln w="12700" cap="flat" cmpd="sng">
            <a:solidFill>
              <a:srgbClr val="D7E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8430768" y="2514600"/>
            <a:ext cx="868680" cy="86868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89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4" name="Google Shape;114;p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31936" y="2715768"/>
            <a:ext cx="466344" cy="46634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6"/>
          <p:cNvSpPr/>
          <p:nvPr/>
        </p:nvSpPr>
        <p:spPr>
          <a:xfrm>
            <a:off x="10725912" y="2377440"/>
            <a:ext cx="777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7E3EA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D7E3E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8430768" y="3657600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Relacionar y estimar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8430768" y="4114800"/>
            <a:ext cx="2971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50"/>
              <a:buFont typeface="Arial"/>
              <a:buNone/>
            </a:pPr>
            <a:r>
              <a:rPr lang="en-US" sz="1250" b="0" i="0" u="none" strike="noStrike" cap="non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Leer una correlación sin confundirla con una causa y calcular probabilidades condicionales.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502920" y="580644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400"/>
              <a:buFont typeface="Arial"/>
              <a:buNone/>
            </a:pPr>
            <a:r>
              <a:rPr lang="en-US" sz="1400" b="0" i="1" u="none" strike="noStrike" cap="non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Al final de la clase: un diagnóstico del mes de Rápido con tres recomendaciones apoyadas en números.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9" descr="assets/banda_superio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889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9"/>
          <p:cNvSpPr/>
          <p:nvPr/>
        </p:nvSpPr>
        <p:spPr>
          <a:xfrm>
            <a:off x="502920" y="115214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MÓDULO 3 · ESTADÍSTICA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502920" y="1426464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Entonces, ¿qué es la estadística descriptiva?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Bootcamp de Ciencia de Datos · Clase 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502920" y="2103120"/>
            <a:ext cx="11155680" cy="914400"/>
          </a:xfrm>
          <a:prstGeom prst="roundRect">
            <a:avLst>
              <a:gd name="adj" fmla="val 9000"/>
            </a:avLst>
          </a:prstGeom>
          <a:solidFill>
            <a:srgbClr val="013A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868680" y="2286000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Resumir un conjunto de datos con pocos números: cuál es el valor típico, qué tanto varían los datos y cómo se relacionan sus columnas, sin perder de vista lo que cada número esconde.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502920" y="3291840"/>
            <a:ext cx="2679192" cy="2606040"/>
          </a:xfrm>
          <a:prstGeom prst="roundRect">
            <a:avLst>
              <a:gd name="adj" fmla="val 3509"/>
            </a:avLst>
          </a:prstGeom>
          <a:solidFill>
            <a:srgbClr val="E8F4F9"/>
          </a:solidFill>
          <a:ln w="12700" cap="flat" cmpd="sng">
            <a:solidFill>
              <a:srgbClr val="D7E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6" name="Google Shape;196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5528" y="36118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9"/>
          <p:cNvSpPr/>
          <p:nvPr/>
        </p:nvSpPr>
        <p:spPr>
          <a:xfrm>
            <a:off x="795528" y="42976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Centro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795528" y="4709160"/>
            <a:ext cx="21488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Media, mediana y moda: el valor típico de una columna.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3364992" y="3291840"/>
            <a:ext cx="2679192" cy="2606040"/>
          </a:xfrm>
          <a:prstGeom prst="roundRect">
            <a:avLst>
              <a:gd name="adj" fmla="val 3509"/>
            </a:avLst>
          </a:prstGeom>
          <a:solidFill>
            <a:srgbClr val="E8F4F9"/>
          </a:solidFill>
          <a:ln w="12700" cap="flat" cmpd="sng">
            <a:solidFill>
              <a:srgbClr val="D7E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0" name="Google Shape;200;p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57600" y="36118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9"/>
          <p:cNvSpPr/>
          <p:nvPr/>
        </p:nvSpPr>
        <p:spPr>
          <a:xfrm>
            <a:off x="3657600" y="42976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Dispersión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3657600" y="4709160"/>
            <a:ext cx="21488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Desviación estándar, rango y rango intercuartílico.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6227064" y="3291840"/>
            <a:ext cx="2679192" cy="2606040"/>
          </a:xfrm>
          <a:prstGeom prst="roundRect">
            <a:avLst>
              <a:gd name="adj" fmla="val 3509"/>
            </a:avLst>
          </a:prstGeom>
          <a:solidFill>
            <a:srgbClr val="E8F4F9"/>
          </a:solidFill>
          <a:ln w="12700" cap="flat" cmpd="sng">
            <a:solidFill>
              <a:srgbClr val="D7E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4" name="Google Shape;204;p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19672" y="36118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9"/>
          <p:cNvSpPr/>
          <p:nvPr/>
        </p:nvSpPr>
        <p:spPr>
          <a:xfrm>
            <a:off x="6519672" y="42976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Posición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6519672" y="4709160"/>
            <a:ext cx="21488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Percentiles y cuartiles: dónde queda un dato frente a los demás.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9089136" y="3291840"/>
            <a:ext cx="2679192" cy="2606040"/>
          </a:xfrm>
          <a:prstGeom prst="roundRect">
            <a:avLst>
              <a:gd name="adj" fmla="val 3509"/>
            </a:avLst>
          </a:prstGeom>
          <a:solidFill>
            <a:srgbClr val="E8F4F9"/>
          </a:solidFill>
          <a:ln w="12700" cap="flat" cmpd="sng">
            <a:solidFill>
              <a:srgbClr val="D7E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8" name="Google Shape;208;p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381744" y="36118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9"/>
          <p:cNvSpPr/>
          <p:nvPr/>
        </p:nvSpPr>
        <p:spPr>
          <a:xfrm>
            <a:off x="9381744" y="42976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Relación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9381744" y="4709160"/>
            <a:ext cx="21488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Correlación y probabilidad: cómo se mueven dos variables juntas.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502920" y="617220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8A00"/>
              </a:buClr>
              <a:buSzPts val="1350"/>
              <a:buFont typeface="Arial"/>
              <a:buNone/>
            </a:pPr>
            <a:r>
              <a:rPr lang="en-US" sz="1350" b="0" i="1" u="none" strike="noStrike" cap="none">
                <a:solidFill>
                  <a:srgbClr val="E08A00"/>
                </a:solidFill>
                <a:latin typeface="Arial"/>
                <a:ea typeface="Arial"/>
                <a:cs typeface="Arial"/>
                <a:sym typeface="Arial"/>
              </a:rPr>
              <a:t>Chequeo rápido: si un empleado nuevo gana 50 veces más que los demás, ¿qué le pasa a la media del salario? ¿Y a la mediana?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10" descr="assets/banda_superio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889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0"/>
          <p:cNvSpPr/>
          <p:nvPr/>
        </p:nvSpPr>
        <p:spPr>
          <a:xfrm>
            <a:off x="502920" y="115214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MÓDULO 3 · ESTADÍSTICA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502920" y="1426464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Tres preguntas, tres tipos de medida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Bootcamp de Ciencia de Datos · Clase 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502920" y="2103120"/>
            <a:ext cx="3575304" cy="4023360"/>
          </a:xfrm>
          <a:prstGeom prst="roundRect">
            <a:avLst>
              <a:gd name="adj" fmla="val 2558"/>
            </a:avLst>
          </a:prstGeom>
          <a:solidFill>
            <a:srgbClr val="FFFFFF"/>
          </a:solidFill>
          <a:ln w="15875" cap="flat" cmpd="sng">
            <a:solidFill>
              <a:srgbClr val="D7E3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B9C6CE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795528" y="237744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0089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3" name="Google Shape;223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0120" y="2542032"/>
            <a:ext cx="448056" cy="44805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0"/>
          <p:cNvSpPr/>
          <p:nvPr/>
        </p:nvSpPr>
        <p:spPr>
          <a:xfrm>
            <a:off x="1737360" y="242316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550"/>
              <a:buFont typeface="Arial"/>
              <a:buNone/>
            </a:pPr>
            <a:r>
              <a:rPr lang="en-US" sz="155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Centro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1737360" y="280720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¿Cuál es el valor típico?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795528" y="3429000"/>
            <a:ext cx="3017520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27000" marR="0" lvl="0" indent="-127000" algn="l" rtl="0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mean() promedia todos los valores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0" marR="0" lvl="0" indent="-127000" algn="l" rtl="0">
              <a:spcBef>
                <a:spcPts val="80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median() resiste los extremos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0" marR="0" lvl="0" indent="-127000" algn="l" rtl="0">
              <a:spcBef>
                <a:spcPts val="80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mode() sirve para categorías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795528" y="5230368"/>
            <a:ext cx="2990088" cy="731520"/>
          </a:xfrm>
          <a:prstGeom prst="roundRect">
            <a:avLst>
              <a:gd name="adj" fmla="val 10000"/>
            </a:avLst>
          </a:prstGeom>
          <a:solidFill>
            <a:srgbClr val="E8F4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960120" y="5321808"/>
            <a:ext cx="267004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Valor típico: $41.000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4306824" y="2103120"/>
            <a:ext cx="3575304" cy="4023360"/>
          </a:xfrm>
          <a:prstGeom prst="roundRect">
            <a:avLst>
              <a:gd name="adj" fmla="val 2558"/>
            </a:avLst>
          </a:prstGeom>
          <a:solidFill>
            <a:srgbClr val="FFFFFF"/>
          </a:solidFill>
          <a:ln w="15875" cap="flat" cmpd="sng">
            <a:solidFill>
              <a:srgbClr val="D7E3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B9C6CE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4599432" y="237744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013A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1" name="Google Shape;231;p1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4024" y="2542032"/>
            <a:ext cx="448056" cy="448056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0"/>
          <p:cNvSpPr/>
          <p:nvPr/>
        </p:nvSpPr>
        <p:spPr>
          <a:xfrm>
            <a:off x="5541264" y="242316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550"/>
              <a:buFont typeface="Arial"/>
              <a:buNone/>
            </a:pPr>
            <a:r>
              <a:rPr lang="en-US" sz="155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Dispersión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5541264" y="280720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¿Qué tanto varían?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4599432" y="3429000"/>
            <a:ext cx="3017520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27000" marR="0" lvl="0" indent="-127000" algn="l" rtl="0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std() mide la variación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0" marR="0" lvl="0" indent="-127000" algn="l" rtl="0">
              <a:spcBef>
                <a:spcPts val="80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Rango: máximo menos mínimo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0" marR="0" lvl="0" indent="-127000" algn="l" rtl="0">
              <a:spcBef>
                <a:spcPts val="80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IQR: Q3 menos Q1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4599432" y="5230368"/>
            <a:ext cx="2990088" cy="731520"/>
          </a:xfrm>
          <a:prstGeom prst="roundRect">
            <a:avLst>
              <a:gd name="adj" fmla="val 10000"/>
            </a:avLst>
          </a:prstGeom>
          <a:solidFill>
            <a:srgbClr val="E8F4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4764024" y="5321808"/>
            <a:ext cx="267004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Sur varía el doble que Norte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8110728" y="2103120"/>
            <a:ext cx="3575304" cy="4023360"/>
          </a:xfrm>
          <a:prstGeom prst="roundRect">
            <a:avLst>
              <a:gd name="adj" fmla="val 2558"/>
            </a:avLst>
          </a:prstGeom>
          <a:solidFill>
            <a:srgbClr val="FFFFFF"/>
          </a:solidFill>
          <a:ln w="15875" cap="flat" cmpd="sng">
            <a:solidFill>
              <a:srgbClr val="D7E3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B9C6CE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8403336" y="237744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E08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9" name="Google Shape;239;p1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67928" y="2542032"/>
            <a:ext cx="448056" cy="448056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0"/>
          <p:cNvSpPr/>
          <p:nvPr/>
        </p:nvSpPr>
        <p:spPr>
          <a:xfrm>
            <a:off x="9345168" y="242316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550"/>
              <a:buFont typeface="Arial"/>
              <a:buNone/>
            </a:pPr>
            <a:r>
              <a:rPr lang="en-US" sz="155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Posición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9345168" y="280720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¿Dónde queda un dato?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8403336" y="3429000"/>
            <a:ext cx="3017520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27000" marR="0" lvl="0" indent="-127000" algn="l" rtl="0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quantile(0.5) es la mediana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0" marR="0" lvl="0" indent="-127000" algn="l" rtl="0">
              <a:spcBef>
                <a:spcPts val="80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quantile(0.9) fija una meta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0" marR="0" lvl="0" indent="-127000" algn="l" rtl="0">
              <a:spcBef>
                <a:spcPts val="80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describe() resume todo junto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8403336" y="5230368"/>
            <a:ext cx="2990088" cy="731520"/>
          </a:xfrm>
          <a:prstGeom prst="roundRect">
            <a:avLst>
              <a:gd name="adj" fmla="val 10000"/>
            </a:avLst>
          </a:prstGeom>
          <a:solidFill>
            <a:srgbClr val="E8F4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8567928" y="5321808"/>
            <a:ext cx="267004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8A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E08A00"/>
                </a:solidFill>
                <a:latin typeface="Arial"/>
                <a:ea typeface="Arial"/>
                <a:cs typeface="Arial"/>
                <a:sym typeface="Arial"/>
              </a:rPr>
              <a:t>P90 del tiempo: 46 min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350"/>
              <a:buFont typeface="Arial"/>
              <a:buNone/>
            </a:pPr>
            <a:r>
              <a:rPr lang="en-US" sz="1350" b="0" i="1" u="none" strike="noStrike" cap="non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La regla de oro: nunca reportes un promedio sin mirar la mediana y la dispersión.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11" descr="assets/banda_superio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889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1"/>
          <p:cNvSpPr/>
          <p:nvPr/>
        </p:nvSpPr>
        <p:spPr>
          <a:xfrm>
            <a:off x="502920" y="115214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MÓDULO 3 · ESTADÍSTICA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502920" y="1426464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Lo que muestra describe() en el archivo de domicilios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Bootcamp de Ciencia de Datos · Clase 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502920" y="2148840"/>
            <a:ext cx="11155680" cy="676656"/>
          </a:xfrm>
          <a:prstGeom prst="roundRect">
            <a:avLst>
              <a:gd name="adj" fmla="val 10811"/>
            </a:avLst>
          </a:prstGeom>
          <a:solidFill>
            <a:srgbClr val="E8F4F9"/>
          </a:solidFill>
          <a:ln w="12700" cap="flat" cmpd="sng">
            <a:solidFill>
              <a:srgbClr val="D7E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1"/>
          <p:cNvSpPr/>
          <p:nvPr/>
        </p:nvSpPr>
        <p:spPr>
          <a:xfrm>
            <a:off x="777240" y="2276856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1234440" y="2276856"/>
            <a:ext cx="8778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Tiempo de entrega: media y mediana casi iguales, los datos son simétricos.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10195560" y="2267712"/>
            <a:ext cx="1280160" cy="438912"/>
          </a:xfrm>
          <a:prstGeom prst="roundRect">
            <a:avLst>
              <a:gd name="adj" fmla="val 16667"/>
            </a:avLst>
          </a:prstGeom>
          <a:solidFill>
            <a:srgbClr val="013A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10195560" y="2286000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35 min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502920" y="2935224"/>
            <a:ext cx="111556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 cap="flat" cmpd="sng">
            <a:solidFill>
              <a:srgbClr val="D7E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777240" y="30632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1234440" y="3063240"/>
            <a:ext cx="8778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Valor del pedido: la media es $55.359 y la mediana solo $41.000.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10195560" y="3054096"/>
            <a:ext cx="1280160" cy="438912"/>
          </a:xfrm>
          <a:prstGeom prst="roundRect">
            <a:avLst>
              <a:gd name="adj" fmla="val 16667"/>
            </a:avLst>
          </a:prstGeom>
          <a:solidFill>
            <a:srgbClr val="013A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10195560" y="3072384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$2.000.000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502920" y="3721608"/>
            <a:ext cx="11155680" cy="676656"/>
          </a:xfrm>
          <a:prstGeom prst="roundRect">
            <a:avLst>
              <a:gd name="adj" fmla="val 10811"/>
            </a:avLst>
          </a:prstGeom>
          <a:solidFill>
            <a:srgbClr val="E8F4F9"/>
          </a:solidFill>
          <a:ln w="12700" cap="flat" cmpd="sng">
            <a:solidFill>
              <a:srgbClr val="D7E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1"/>
          <p:cNvSpPr/>
          <p:nvPr/>
        </p:nvSpPr>
        <p:spPr>
          <a:xfrm>
            <a:off x="777240" y="3849624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1234440" y="3849624"/>
            <a:ext cx="8778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Desviación del valor: 127.885, mayor que la media. Señal de un valor extremo.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10195560" y="3840480"/>
            <a:ext cx="1280160" cy="438912"/>
          </a:xfrm>
          <a:prstGeom prst="roundRect">
            <a:avLst>
              <a:gd name="adj" fmla="val 16667"/>
            </a:avLst>
          </a:prstGeom>
          <a:solidFill>
            <a:srgbClr val="013A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1"/>
          <p:cNvSpPr/>
          <p:nvPr/>
        </p:nvSpPr>
        <p:spPr>
          <a:xfrm>
            <a:off x="10195560" y="3858768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std &gt; media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502920" y="4507992"/>
            <a:ext cx="111556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 cap="flat" cmpd="sng">
            <a:solidFill>
              <a:srgbClr val="D7E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777240" y="4636008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1234440" y="4636008"/>
            <a:ext cx="8778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Calificación: el 25 %, el 50 % y el 75 % valen 4. La mayoría califica con 4.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10195560" y="4626864"/>
            <a:ext cx="1280160" cy="438912"/>
          </a:xfrm>
          <a:prstGeom prst="roundRect">
            <a:avLst>
              <a:gd name="adj" fmla="val 16667"/>
            </a:avLst>
          </a:prstGeom>
          <a:solidFill>
            <a:srgbClr val="013A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10195560" y="4645152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 de 5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502920" y="5294376"/>
            <a:ext cx="11155680" cy="676656"/>
          </a:xfrm>
          <a:prstGeom prst="roundRect">
            <a:avLst>
              <a:gd name="adj" fmla="val 10811"/>
            </a:avLst>
          </a:prstGeom>
          <a:solidFill>
            <a:srgbClr val="E8F4F9"/>
          </a:solidFill>
          <a:ln w="12700" cap="flat" cmpd="sng">
            <a:solidFill>
              <a:srgbClr val="D7E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777240" y="5422392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5.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1234440" y="5422392"/>
            <a:ext cx="8778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Percentil 90 del tiempo: el 90 % de los pedidos llega en 46 minutos o menos.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10195560" y="5413248"/>
            <a:ext cx="1280160" cy="438912"/>
          </a:xfrm>
          <a:prstGeom prst="roundRect">
            <a:avLst>
              <a:gd name="adj" fmla="val 16667"/>
            </a:avLst>
          </a:prstGeom>
          <a:solidFill>
            <a:srgbClr val="013A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1"/>
          <p:cNvSpPr/>
          <p:nvPr/>
        </p:nvSpPr>
        <p:spPr>
          <a:xfrm>
            <a:off x="10195560" y="5431536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P90 = 46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1200"/>
              <a:buFont typeface="Arial"/>
              <a:buNone/>
            </a:pPr>
            <a:r>
              <a:rPr lang="en-US" sz="1200" b="0" i="1" u="none" strike="noStrike" cap="non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Antes de concluir nada, compara media y mediana: si se separan, hay valores extremos.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13" descr="assets/banda_superio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9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3"/>
          <p:cNvSpPr/>
          <p:nvPr/>
        </p:nvSpPr>
        <p:spPr>
          <a:xfrm>
            <a:off x="502920" y="115214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MÓDULO 3 · ESTADÍSTICA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502920" y="1426464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Cómo encontrar valores atípicos, paso a paso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Bootcamp de Ciencia de Datos · Clase 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502920" y="2286000"/>
            <a:ext cx="2057400" cy="3017520"/>
          </a:xfrm>
          <a:prstGeom prst="roundRect">
            <a:avLst>
              <a:gd name="adj" fmla="val 4444"/>
            </a:avLst>
          </a:prstGeom>
          <a:solidFill>
            <a:srgbClr val="E8F4F9"/>
          </a:solidFill>
          <a:ln w="12700" cap="flat" cmpd="sng">
            <a:solidFill>
              <a:srgbClr val="D7E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4" name="Google Shape;324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1520" y="25603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3"/>
          <p:cNvSpPr/>
          <p:nvPr/>
        </p:nvSpPr>
        <p:spPr>
          <a:xfrm>
            <a:off x="731520" y="3200400"/>
            <a:ext cx="162763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450"/>
              <a:buFont typeface="Arial"/>
              <a:buNone/>
            </a:pPr>
            <a:r>
              <a:rPr lang="en-US" sz="145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Ordenar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731520" y="3566160"/>
            <a:ext cx="1627632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Organizas los tiempos de menor a mayor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731520" y="4709160"/>
            <a:ext cx="162763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sort_values()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8" name="Google Shape;328;p1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60320" y="36393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3"/>
          <p:cNvSpPr/>
          <p:nvPr/>
        </p:nvSpPr>
        <p:spPr>
          <a:xfrm>
            <a:off x="2788920" y="2286000"/>
            <a:ext cx="2057400" cy="3017520"/>
          </a:xfrm>
          <a:prstGeom prst="roundRect">
            <a:avLst>
              <a:gd name="adj" fmla="val 4444"/>
            </a:avLst>
          </a:prstGeom>
          <a:solidFill>
            <a:srgbClr val="E8F4F9"/>
          </a:solidFill>
          <a:ln w="12700" cap="flat" cmpd="sng">
            <a:solidFill>
              <a:srgbClr val="D7E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0" name="Google Shape;330;p1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17520" y="25603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3"/>
          <p:cNvSpPr/>
          <p:nvPr/>
        </p:nvSpPr>
        <p:spPr>
          <a:xfrm>
            <a:off x="3017520" y="3200400"/>
            <a:ext cx="162763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450"/>
              <a:buFont typeface="Arial"/>
              <a:buNone/>
            </a:pPr>
            <a:r>
              <a:rPr lang="en-US" sz="145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Cuartiles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3017520" y="3566160"/>
            <a:ext cx="1627632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Q1 = 29 y Q3 = 41 minutos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3017520" y="4709160"/>
            <a:ext cx="162763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quantile()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4" name="Google Shape;334;p1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6320" y="36393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3"/>
          <p:cNvSpPr/>
          <p:nvPr/>
        </p:nvSpPr>
        <p:spPr>
          <a:xfrm>
            <a:off x="5074920" y="2286000"/>
            <a:ext cx="2057400" cy="3017520"/>
          </a:xfrm>
          <a:prstGeom prst="roundRect">
            <a:avLst>
              <a:gd name="adj" fmla="val 4444"/>
            </a:avLst>
          </a:prstGeom>
          <a:solidFill>
            <a:srgbClr val="E8F4F9"/>
          </a:solidFill>
          <a:ln w="12700" cap="flat" cmpd="sng">
            <a:solidFill>
              <a:srgbClr val="D7E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6" name="Google Shape;336;p1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03520" y="25603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3"/>
          <p:cNvSpPr/>
          <p:nvPr/>
        </p:nvSpPr>
        <p:spPr>
          <a:xfrm>
            <a:off x="5303520" y="3200400"/>
            <a:ext cx="162763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450"/>
              <a:buFont typeface="Arial"/>
              <a:buNone/>
            </a:pPr>
            <a:r>
              <a:rPr lang="en-US" sz="145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Rango IQR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5303520" y="3566160"/>
            <a:ext cx="1627632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Q3 menos Q1: la mitad central mide 12 minutos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5303520" y="4709160"/>
            <a:ext cx="162763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IQR = 12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0" name="Google Shape;340;p1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32320" y="36393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3"/>
          <p:cNvSpPr/>
          <p:nvPr/>
        </p:nvSpPr>
        <p:spPr>
          <a:xfrm>
            <a:off x="7360920" y="2286000"/>
            <a:ext cx="2057400" cy="3017520"/>
          </a:xfrm>
          <a:prstGeom prst="roundRect">
            <a:avLst>
              <a:gd name="adj" fmla="val 4444"/>
            </a:avLst>
          </a:prstGeom>
          <a:solidFill>
            <a:srgbClr val="E8F4F9"/>
          </a:solidFill>
          <a:ln w="12700" cap="flat" cmpd="sng">
            <a:solidFill>
              <a:srgbClr val="D7E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2" name="Google Shape;342;p1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589520" y="25603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3"/>
          <p:cNvSpPr/>
          <p:nvPr/>
        </p:nvSpPr>
        <p:spPr>
          <a:xfrm>
            <a:off x="7589520" y="3200400"/>
            <a:ext cx="162763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450"/>
              <a:buFont typeface="Arial"/>
              <a:buNone/>
            </a:pPr>
            <a:r>
              <a:rPr lang="en-US" sz="145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Límites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7589520" y="3566160"/>
            <a:ext cx="1627632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Q1 menos 1,5 IQR y Q3 más 1,5 IQR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7589520" y="4709160"/>
            <a:ext cx="162763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11 y 59 minutos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6" name="Google Shape;346;p1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18320" y="36393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3"/>
          <p:cNvSpPr/>
          <p:nvPr/>
        </p:nvSpPr>
        <p:spPr>
          <a:xfrm>
            <a:off x="9646920" y="2286000"/>
            <a:ext cx="2057400" cy="3017520"/>
          </a:xfrm>
          <a:prstGeom prst="roundRect">
            <a:avLst>
              <a:gd name="adj" fmla="val 4444"/>
            </a:avLst>
          </a:prstGeom>
          <a:solidFill>
            <a:srgbClr val="013A52"/>
          </a:solidFill>
          <a:ln w="12700" cap="flat" cmpd="sng">
            <a:solidFill>
              <a:srgbClr val="013A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8" name="Google Shape;348;p13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875520" y="25603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3"/>
          <p:cNvSpPr/>
          <p:nvPr/>
        </p:nvSpPr>
        <p:spPr>
          <a:xfrm>
            <a:off x="9875520" y="3200400"/>
            <a:ext cx="162763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lang="en-US" sz="14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Revisar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9875520" y="3566160"/>
            <a:ext cx="1627632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F1F7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E6F1F7"/>
                </a:solidFill>
                <a:latin typeface="Arial"/>
                <a:ea typeface="Arial"/>
                <a:cs typeface="Arial"/>
                <a:sym typeface="Arial"/>
              </a:rPr>
              <a:t>Dos pedidos se salen: 67 y 72 minutos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9875520" y="4709160"/>
            <a:ext cx="162763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0DE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00A0DE"/>
                </a:solidFill>
                <a:latin typeface="Arial"/>
                <a:ea typeface="Arial"/>
                <a:cs typeface="Arial"/>
                <a:sym typeface="Arial"/>
              </a:rPr>
              <a:t>revisar, no borrar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502920" y="562356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E8F4F9"/>
          </a:solidFill>
          <a:ln w="12700" cap="flat" cmpd="sng">
            <a:solidFill>
              <a:srgbClr val="0089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3"/>
          <p:cNvSpPr/>
          <p:nvPr/>
        </p:nvSpPr>
        <p:spPr>
          <a:xfrm>
            <a:off x="777240" y="5779008"/>
            <a:ext cx="10607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Para qué sirven los cuartiles: </a:t>
            </a:r>
            <a:r>
              <a:rPr lang="en-US" sz="1350" b="0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muestran la mitad central de los datos, permiten comparar qué grupo es más predecible y marcan los valores que vale la pena revisar.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13" descr="assets/banda_superio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889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3"/>
          <p:cNvSpPr/>
          <p:nvPr/>
        </p:nvSpPr>
        <p:spPr>
          <a:xfrm>
            <a:off x="502920" y="115214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MÓDULO 3 · ESTADÍSTICA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502920" y="1426464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Cómo leer una columna numérica, paso a paso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Bootcamp de Ciencia de Datos · Clase 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502920" y="2286000"/>
            <a:ext cx="2057400" cy="3017520"/>
          </a:xfrm>
          <a:prstGeom prst="roundRect">
            <a:avLst>
              <a:gd name="adj" fmla="val 4444"/>
            </a:avLst>
          </a:prstGeom>
          <a:solidFill>
            <a:srgbClr val="E8F4F9"/>
          </a:solidFill>
          <a:ln w="12700" cap="flat" cmpd="sng">
            <a:solidFill>
              <a:srgbClr val="D7E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4" name="Google Shape;324;p1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1520" y="25603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3"/>
          <p:cNvSpPr/>
          <p:nvPr/>
        </p:nvSpPr>
        <p:spPr>
          <a:xfrm>
            <a:off x="731520" y="3200400"/>
            <a:ext cx="162763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450"/>
              <a:buFont typeface="Arial"/>
              <a:buNone/>
            </a:pPr>
            <a:r>
              <a:rPr lang="en-US" sz="145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Centro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731520" y="3566160"/>
            <a:ext cx="1627632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Comparas media y mediana para detectar extremos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731520" y="4709160"/>
            <a:ext cx="162763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mean() y median()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8" name="Google Shape;328;p1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60320" y="36393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3"/>
          <p:cNvSpPr/>
          <p:nvPr/>
        </p:nvSpPr>
        <p:spPr>
          <a:xfrm>
            <a:off x="2788920" y="2286000"/>
            <a:ext cx="2057400" cy="3017520"/>
          </a:xfrm>
          <a:prstGeom prst="roundRect">
            <a:avLst>
              <a:gd name="adj" fmla="val 4444"/>
            </a:avLst>
          </a:prstGeom>
          <a:solidFill>
            <a:srgbClr val="E8F4F9"/>
          </a:solidFill>
          <a:ln w="12700" cap="flat" cmpd="sng">
            <a:solidFill>
              <a:srgbClr val="D7E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0" name="Google Shape;330;p1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17520" y="25603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3"/>
          <p:cNvSpPr/>
          <p:nvPr/>
        </p:nvSpPr>
        <p:spPr>
          <a:xfrm>
            <a:off x="3017520" y="3200400"/>
            <a:ext cx="162763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450"/>
              <a:buFont typeface="Arial"/>
              <a:buNone/>
            </a:pPr>
            <a:r>
              <a:rPr lang="en-US" sz="145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Dispersión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3017520" y="3566160"/>
            <a:ext cx="1627632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Mides qué tanto se alejan los datos del centro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3017520" y="4709160"/>
            <a:ext cx="162763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std() y quantile()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4" name="Google Shape;334;p1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46320" y="36393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3"/>
          <p:cNvSpPr/>
          <p:nvPr/>
        </p:nvSpPr>
        <p:spPr>
          <a:xfrm>
            <a:off x="5074920" y="2286000"/>
            <a:ext cx="2057400" cy="3017520"/>
          </a:xfrm>
          <a:prstGeom prst="roundRect">
            <a:avLst>
              <a:gd name="adj" fmla="val 4444"/>
            </a:avLst>
          </a:prstGeom>
          <a:solidFill>
            <a:srgbClr val="E8F4F9"/>
          </a:solidFill>
          <a:ln w="12700" cap="flat" cmpd="sng">
            <a:solidFill>
              <a:srgbClr val="D7E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6" name="Google Shape;336;p1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303520" y="25603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3"/>
          <p:cNvSpPr/>
          <p:nvPr/>
        </p:nvSpPr>
        <p:spPr>
          <a:xfrm>
            <a:off x="5303520" y="3200400"/>
            <a:ext cx="162763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450"/>
              <a:buFont typeface="Arial"/>
              <a:buNone/>
            </a:pPr>
            <a:r>
              <a:rPr lang="en-US" sz="145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Posición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5303520" y="3566160"/>
            <a:ext cx="1627632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Ubicas umbrales y metas con percentiles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5303520" y="4709160"/>
            <a:ext cx="162763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quantile(0.95)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0" name="Google Shape;340;p1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32320" y="36393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3"/>
          <p:cNvSpPr/>
          <p:nvPr/>
        </p:nvSpPr>
        <p:spPr>
          <a:xfrm>
            <a:off x="7360920" y="2286000"/>
            <a:ext cx="2057400" cy="3017520"/>
          </a:xfrm>
          <a:prstGeom prst="roundRect">
            <a:avLst>
              <a:gd name="adj" fmla="val 4444"/>
            </a:avLst>
          </a:prstGeom>
          <a:solidFill>
            <a:srgbClr val="E8F4F9"/>
          </a:solidFill>
          <a:ln w="12700" cap="flat" cmpd="sng">
            <a:solidFill>
              <a:srgbClr val="D7E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2" name="Google Shape;342;p13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589520" y="25603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3"/>
          <p:cNvSpPr/>
          <p:nvPr/>
        </p:nvSpPr>
        <p:spPr>
          <a:xfrm>
            <a:off x="7589520" y="3200400"/>
            <a:ext cx="162763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450"/>
              <a:buFont typeface="Arial"/>
              <a:buNone/>
            </a:pPr>
            <a:r>
              <a:rPr lang="en-US" sz="145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Relación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7589520" y="3566160"/>
            <a:ext cx="1627632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Buscas qué variables se mueven juntas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7589520" y="4709160"/>
            <a:ext cx="162763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corr()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6" name="Google Shape;346;p1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418320" y="36393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3"/>
          <p:cNvSpPr/>
          <p:nvPr/>
        </p:nvSpPr>
        <p:spPr>
          <a:xfrm>
            <a:off x="9646920" y="2286000"/>
            <a:ext cx="2057400" cy="3017520"/>
          </a:xfrm>
          <a:prstGeom prst="roundRect">
            <a:avLst>
              <a:gd name="adj" fmla="val 4444"/>
            </a:avLst>
          </a:prstGeom>
          <a:solidFill>
            <a:srgbClr val="013A52"/>
          </a:solidFill>
          <a:ln w="12700" cap="flat" cmpd="sng">
            <a:solidFill>
              <a:srgbClr val="013A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8" name="Google Shape;348;p13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875520" y="25603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3"/>
          <p:cNvSpPr/>
          <p:nvPr/>
        </p:nvSpPr>
        <p:spPr>
          <a:xfrm>
            <a:off x="9875520" y="3200400"/>
            <a:ext cx="162763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lang="en-US" sz="14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Decisión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9875520" y="3566160"/>
            <a:ext cx="1627632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F1F7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E6F1F7"/>
                </a:solidFill>
                <a:latin typeface="Arial"/>
                <a:ea typeface="Arial"/>
                <a:cs typeface="Arial"/>
                <a:sym typeface="Arial"/>
              </a:rPr>
              <a:t>Conviertes los números en una recomendación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9875520" y="4709160"/>
            <a:ext cx="162763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0DE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00A0DE"/>
                </a:solidFill>
                <a:latin typeface="Arial"/>
                <a:ea typeface="Arial"/>
                <a:cs typeface="Arial"/>
                <a:sym typeface="Arial"/>
              </a:rPr>
              <a:t>una frase, un número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502920" y="562356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E8F4F9"/>
          </a:solidFill>
          <a:ln w="12700" cap="flat" cmpd="sng">
            <a:solidFill>
              <a:srgbClr val="0089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3"/>
          <p:cNvSpPr/>
          <p:nvPr/>
        </p:nvSpPr>
        <p:spPr>
          <a:xfrm>
            <a:off x="777240" y="5779008"/>
            <a:ext cx="10607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La idea clave: </a:t>
            </a:r>
            <a:r>
              <a:rPr lang="en-US" sz="1350" b="0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cada medida responde una pregunta distinta; juntas cuentan la historia que un solo promedio esconde.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14" descr="assets/banda_superio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9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4"/>
          <p:cNvSpPr/>
          <p:nvPr/>
        </p:nvSpPr>
        <p:spPr>
          <a:xfrm>
            <a:off x="502920" y="115214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MÓDULO 3 · ESTADÍSTICA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502920" y="1426464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Entonces, ¿qué dice una correlación?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Bootcamp de Ciencia de Datos · Clase 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502920" y="2103120"/>
            <a:ext cx="5120640" cy="3977640"/>
          </a:xfrm>
          <a:prstGeom prst="roundRect">
            <a:avLst>
              <a:gd name="adj" fmla="val 2299"/>
            </a:avLst>
          </a:prstGeom>
          <a:solidFill>
            <a:srgbClr val="013A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4" name="Google Shape;364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8680" y="242316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4"/>
          <p:cNvSpPr/>
          <p:nvPr/>
        </p:nvSpPr>
        <p:spPr>
          <a:xfrm>
            <a:off x="868680" y="3108960"/>
            <a:ext cx="4389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Mide si dos variables se mueven juntas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868680" y="3886200"/>
            <a:ext cx="438912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F1F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E6F1F7"/>
                </a:solidFill>
                <a:latin typeface="Arial"/>
                <a:ea typeface="Arial"/>
                <a:cs typeface="Arial"/>
                <a:sym typeface="Arial"/>
              </a:rPr>
              <a:t>La correlación va de -1 a 1. Cerca de 1, cuando una sube la otra también; cerca de -1, cuando una sube la otra baja; cerca de 0, no hay relación lineal.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868680" y="544068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0DE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00A0DE"/>
                </a:solidFill>
                <a:latin typeface="Arial"/>
                <a:ea typeface="Arial"/>
                <a:cs typeface="Arial"/>
                <a:sym typeface="Arial"/>
              </a:rPr>
              <a:t>Que se muevan juntas no significa que una cause la otra.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6080760" y="2121408"/>
            <a:ext cx="5577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Un ejemplo aplicado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6080760" y="2514600"/>
            <a:ext cx="5577840" cy="2331720"/>
          </a:xfrm>
          <a:prstGeom prst="roundRect">
            <a:avLst>
              <a:gd name="adj" fmla="val 3529"/>
            </a:avLst>
          </a:prstGeom>
          <a:solidFill>
            <a:srgbClr val="F4F9FC"/>
          </a:solidFill>
          <a:ln w="12700" cap="flat" cmpd="sng">
            <a:solidFill>
              <a:srgbClr val="D7E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4"/>
          <p:cNvSpPr/>
          <p:nvPr/>
        </p:nvSpPr>
        <p:spPr>
          <a:xfrm>
            <a:off x="6355080" y="2697480"/>
            <a:ext cx="502920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Courier New"/>
              <a:buNone/>
            </a:pPr>
            <a:r>
              <a:rPr lang="en-US" sz="1300" b="0" i="0" u="none" strike="noStrike" cap="none">
                <a:solidFill>
                  <a:srgbClr val="556670"/>
                </a:solidFill>
                <a:latin typeface="Arial"/>
                <a:ea typeface="Courier New"/>
                <a:cs typeface="Courier New"/>
                <a:sym typeface="Courier New"/>
              </a:rPr>
              <a:t>Distancia y calificación tienen -0,30. ¿La distancia molesta al cliente? No: los pedidos lejanos tardan más (0,52) y el tiempo es lo que baja la calificación (-0,66). La causa real es la demora.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6080760" y="5029200"/>
            <a:ext cx="55778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875" cap="flat" cmpd="sng">
            <a:solidFill>
              <a:srgbClr val="E08A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4"/>
          <p:cNvSpPr/>
          <p:nvPr/>
        </p:nvSpPr>
        <p:spPr>
          <a:xfrm>
            <a:off x="6355080" y="5212080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8A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E08A00"/>
                </a:solidFill>
                <a:latin typeface="Arial"/>
                <a:ea typeface="Arial"/>
                <a:cs typeface="Arial"/>
                <a:sym typeface="Arial"/>
              </a:rPr>
              <a:t>Dato: </a:t>
            </a:r>
            <a:r>
              <a:rPr lang="en-US" sz="1200" b="0" i="0" u="none" strike="noStrike" cap="non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df.corr(numeric_only=True) calcula todas las correlaciones de una vez. Descarta columnas de identificación como id_pedido.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14" descr="assets/banda_superio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889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4"/>
          <p:cNvSpPr/>
          <p:nvPr/>
        </p:nvSpPr>
        <p:spPr>
          <a:xfrm>
            <a:off x="502920" y="115214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MÓDULO 3 · ESTADÍSTICA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502920" y="1426464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Entonces, ¿qué es una probabilidad condicional?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Bootcamp de Ciencia de Datos · Clase 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502920" y="2103120"/>
            <a:ext cx="5120640" cy="3977640"/>
          </a:xfrm>
          <a:prstGeom prst="roundRect">
            <a:avLst>
              <a:gd name="adj" fmla="val 2299"/>
            </a:avLst>
          </a:prstGeom>
          <a:solidFill>
            <a:srgbClr val="013A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4" name="Google Shape;364;p1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8680" y="242316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4"/>
          <p:cNvSpPr/>
          <p:nvPr/>
        </p:nvSpPr>
        <p:spPr>
          <a:xfrm>
            <a:off x="868680" y="3108960"/>
            <a:ext cx="4389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misma pregunta dentro de un grupo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868680" y="3886200"/>
            <a:ext cx="438912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F1F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E6F1F7"/>
                </a:solidFill>
                <a:latin typeface="Arial"/>
                <a:ea typeface="Arial"/>
                <a:cs typeface="Arial"/>
                <a:sym typeface="Arial"/>
              </a:rPr>
              <a:t>La probabilidad de un evento es la proporción de veces que ocurre. La condicional calcula esa proporción solo dentro de un grupo: P(tarde | lluvia) se lee probabilidad de llegar tarde dado que llueve.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868680" y="544068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0DE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00A0DE"/>
                </a:solidFill>
                <a:latin typeface="Arial"/>
                <a:ea typeface="Arial"/>
                <a:cs typeface="Arial"/>
                <a:sym typeface="Arial"/>
              </a:rPr>
              <a:t>En Pandas: filtras el grupo y sacas mean() de la condición.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6080760" y="2121408"/>
            <a:ext cx="5577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Un ejemplo aplicado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6080760" y="2514600"/>
            <a:ext cx="5577840" cy="2331720"/>
          </a:xfrm>
          <a:prstGeom prst="roundRect">
            <a:avLst>
              <a:gd name="adj" fmla="val 3529"/>
            </a:avLst>
          </a:prstGeom>
          <a:solidFill>
            <a:srgbClr val="F4F9FC"/>
          </a:solidFill>
          <a:ln w="12700" cap="flat" cmpd="sng">
            <a:solidFill>
              <a:srgbClr val="D7E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4"/>
          <p:cNvSpPr/>
          <p:nvPr/>
        </p:nvSpPr>
        <p:spPr>
          <a:xfrm>
            <a:off x="6355080" y="2697480"/>
            <a:ext cx="502920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Courier New"/>
              <a:buNone/>
            </a:pPr>
            <a:r>
              <a:rPr lang="en-US" sz="1300" b="0" i="0" u="none" strike="noStrike" cap="none">
                <a:solidFill>
                  <a:srgbClr val="556670"/>
                </a:solidFill>
                <a:latin typeface="Arial"/>
                <a:ea typeface="Courier New"/>
                <a:cs typeface="Courier New"/>
                <a:sym typeface="Courier New"/>
              </a:rPr>
              <a:t>En septiembre, 29 de 240 pedidos llegaron tarde: 12,1 %. Con lluvia la cifra sube a 28,1 % (18 de 64) y sin lluvia baja a 6,2 %. La lluvia multiplica por más de cuatro el riesgo de llegar tarde.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6080760" y="5029200"/>
            <a:ext cx="55778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875" cap="flat" cmpd="sng">
            <a:solidFill>
              <a:srgbClr val="E08A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4"/>
          <p:cNvSpPr/>
          <p:nvPr/>
        </p:nvSpPr>
        <p:spPr>
          <a:xfrm>
            <a:off x="6355080" y="5212080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8A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E08A00"/>
                </a:solidFill>
                <a:latin typeface="Arial"/>
                <a:ea typeface="Arial"/>
                <a:cs typeface="Arial"/>
                <a:sym typeface="Arial"/>
              </a:rPr>
              <a:t>Dato: </a:t>
            </a:r>
            <a:r>
              <a:rPr lang="en-US" sz="1200" b="0" i="0" u="none" strike="noStrike" cap="non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(df['tiempo_min'] &gt; 45).mean() da la proporción de pedidos tarde: cada True cuenta como 1 y cada False como 0.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15" descr="assets/banda_superio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889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15"/>
          <p:cNvSpPr/>
          <p:nvPr/>
        </p:nvSpPr>
        <p:spPr>
          <a:xfrm>
            <a:off x="502920" y="115214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PARA LA CASA · 30 MIN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502920" y="1426464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2700"/>
              <a:buFont typeface="Arial"/>
              <a:buNone/>
            </a:pPr>
            <a:r>
              <a:rPr lang="en-US" sz="2700" b="1" i="0" u="none" strike="noStrike" cap="none" dirty="0" err="1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endParaRPr sz="2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5"/>
          <p:cNvSpPr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Bootcamp de Ciencia de Datos · Clase 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502920" y="2148840"/>
            <a:ext cx="6675120" cy="804672"/>
          </a:xfrm>
          <a:prstGeom prst="roundRect">
            <a:avLst>
              <a:gd name="adj" fmla="val 9091"/>
            </a:avLst>
          </a:prstGeom>
          <a:solidFill>
            <a:srgbClr val="E8F4F9"/>
          </a:solidFill>
          <a:ln w="12700" cap="flat" cmpd="sng">
            <a:solidFill>
              <a:srgbClr val="D7E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15"/>
          <p:cNvSpPr/>
          <p:nvPr/>
        </p:nvSpPr>
        <p:spPr>
          <a:xfrm>
            <a:off x="731520" y="2322576"/>
            <a:ext cx="457200" cy="457200"/>
          </a:xfrm>
          <a:prstGeom prst="ellipse">
            <a:avLst/>
          </a:prstGeom>
          <a:solidFill>
            <a:srgbClr val="E08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5"/>
          <p:cNvSpPr/>
          <p:nvPr/>
        </p:nvSpPr>
        <p:spPr>
          <a:xfrm>
            <a:off x="731520" y="2331720"/>
            <a:ext cx="457200" cy="429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1371600" y="2258568"/>
            <a:ext cx="493776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250"/>
              <a:buFont typeface="Arial"/>
              <a:buNone/>
            </a:pPr>
            <a:r>
              <a:rPr lang="en-US" sz="1250" b="0" i="0" u="none" strike="noStrike" cap="none" dirty="0" err="1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Aplica</a:t>
            </a:r>
            <a:r>
              <a:rPr lang="en-US" sz="1250" b="0" i="0" u="none" strike="noStrike" cap="none" dirty="0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1250" b="0" i="0" u="none" strike="noStrike" cap="none" dirty="0" err="1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regla</a:t>
            </a:r>
            <a:r>
              <a:rPr lang="en-US" sz="1250" b="0" i="0" u="none" strike="noStrike" cap="none" dirty="0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250" b="0" i="0" u="none" strike="noStrike" cap="none" dirty="0" err="1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los</a:t>
            </a:r>
            <a:r>
              <a:rPr lang="en-US" sz="1250" b="0" i="0" u="none" strike="noStrike" cap="none" dirty="0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50" b="0" i="0" u="none" strike="noStrike" cap="none" dirty="0" err="1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cuartiles</a:t>
            </a:r>
            <a:r>
              <a:rPr lang="en-US" sz="1250" b="0" i="0" u="none" strike="noStrike" cap="none" dirty="0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1250" b="0" i="0" u="none" strike="noStrike" cap="none" dirty="0" err="1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distancia_km</a:t>
            </a:r>
            <a:r>
              <a:rPr lang="en-US" sz="1250" b="0" i="0" u="none" strike="noStrike" cap="none" dirty="0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. ¿Hay </a:t>
            </a:r>
            <a:r>
              <a:rPr lang="en-US" sz="1250" b="0" i="0" u="none" strike="noStrike" cap="none" dirty="0" err="1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pedidos</a:t>
            </a:r>
            <a:r>
              <a:rPr lang="en-US" sz="1250" b="0" i="0" u="none" strike="noStrike" cap="none" dirty="0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50" b="0" i="0" u="none" strike="noStrike" cap="none" dirty="0" err="1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atípicos</a:t>
            </a:r>
            <a:r>
              <a:rPr lang="en-US" sz="1250" b="0" i="0" u="none" strike="noStrike" cap="none" dirty="0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50" b="0" i="0" u="none" strike="noStrike" cap="none" dirty="0" err="1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por</a:t>
            </a:r>
            <a:r>
              <a:rPr lang="en-US" sz="1250" b="0" i="0" u="none" strike="noStrike" cap="none" dirty="0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50" b="0" i="0" u="none" strike="noStrike" cap="none" dirty="0" err="1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distancia</a:t>
            </a:r>
            <a:r>
              <a:rPr lang="en-US" sz="1250" b="0" i="0" u="none" strike="noStrike" cap="none" dirty="0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6355080" y="2404872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10 min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5"/>
          <p:cNvSpPr/>
          <p:nvPr/>
        </p:nvSpPr>
        <p:spPr>
          <a:xfrm>
            <a:off x="502920" y="3063240"/>
            <a:ext cx="6675120" cy="804672"/>
          </a:xfrm>
          <a:prstGeom prst="roundRect">
            <a:avLst>
              <a:gd name="adj" fmla="val 9091"/>
            </a:avLst>
          </a:prstGeom>
          <a:solidFill>
            <a:srgbClr val="E8F4F9"/>
          </a:solidFill>
          <a:ln w="12700" cap="flat" cmpd="sng">
            <a:solidFill>
              <a:srgbClr val="D7E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15"/>
          <p:cNvSpPr/>
          <p:nvPr/>
        </p:nvSpPr>
        <p:spPr>
          <a:xfrm>
            <a:off x="731520" y="3236976"/>
            <a:ext cx="457200" cy="457200"/>
          </a:xfrm>
          <a:prstGeom prst="ellipse">
            <a:avLst/>
          </a:prstGeom>
          <a:solidFill>
            <a:srgbClr val="E08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5"/>
          <p:cNvSpPr/>
          <p:nvPr/>
        </p:nvSpPr>
        <p:spPr>
          <a:xfrm>
            <a:off x="731520" y="3246120"/>
            <a:ext cx="457200" cy="429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5"/>
          <p:cNvSpPr/>
          <p:nvPr/>
        </p:nvSpPr>
        <p:spPr>
          <a:xfrm>
            <a:off x="1371600" y="3172968"/>
            <a:ext cx="493776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250"/>
              <a:buFont typeface="Arial"/>
              <a:buNone/>
            </a:pPr>
            <a:r>
              <a:rPr lang="en-US" sz="1250" b="0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Calcula la probabilidad de recibir una calificación de 3 o menos en todos los pedidos.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5"/>
          <p:cNvSpPr/>
          <p:nvPr/>
        </p:nvSpPr>
        <p:spPr>
          <a:xfrm>
            <a:off x="6355080" y="3319272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5 min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502920" y="3977640"/>
            <a:ext cx="6675120" cy="804672"/>
          </a:xfrm>
          <a:prstGeom prst="roundRect">
            <a:avLst>
              <a:gd name="adj" fmla="val 9091"/>
            </a:avLst>
          </a:prstGeom>
          <a:solidFill>
            <a:srgbClr val="E8F4F9"/>
          </a:solidFill>
          <a:ln w="12700" cap="flat" cmpd="sng">
            <a:solidFill>
              <a:srgbClr val="D7E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15"/>
          <p:cNvSpPr/>
          <p:nvPr/>
        </p:nvSpPr>
        <p:spPr>
          <a:xfrm>
            <a:off x="731520" y="4151376"/>
            <a:ext cx="457200" cy="457200"/>
          </a:xfrm>
          <a:prstGeom prst="ellipse">
            <a:avLst/>
          </a:prstGeom>
          <a:solidFill>
            <a:srgbClr val="E08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15"/>
          <p:cNvSpPr/>
          <p:nvPr/>
        </p:nvSpPr>
        <p:spPr>
          <a:xfrm>
            <a:off x="731520" y="4160520"/>
            <a:ext cx="457200" cy="429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5"/>
          <p:cNvSpPr/>
          <p:nvPr/>
        </p:nvSpPr>
        <p:spPr>
          <a:xfrm>
            <a:off x="1371600" y="4087368"/>
            <a:ext cx="493776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250"/>
              <a:buFont typeface="Arial"/>
              <a:buNone/>
            </a:pPr>
            <a:r>
              <a:rPr lang="en-US" sz="1250" b="0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Calcula esa misma probabilidad solo en los pedidos con lluvia y di si los eventos son independientes.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5"/>
          <p:cNvSpPr/>
          <p:nvPr/>
        </p:nvSpPr>
        <p:spPr>
          <a:xfrm>
            <a:off x="6355080" y="4233672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10 min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5"/>
          <p:cNvSpPr/>
          <p:nvPr/>
        </p:nvSpPr>
        <p:spPr>
          <a:xfrm>
            <a:off x="502920" y="4892040"/>
            <a:ext cx="6675120" cy="804672"/>
          </a:xfrm>
          <a:prstGeom prst="roundRect">
            <a:avLst>
              <a:gd name="adj" fmla="val 9091"/>
            </a:avLst>
          </a:prstGeom>
          <a:solidFill>
            <a:srgbClr val="E8F4F9"/>
          </a:solidFill>
          <a:ln w="12700" cap="flat" cmpd="sng">
            <a:solidFill>
              <a:srgbClr val="D7E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15"/>
          <p:cNvSpPr/>
          <p:nvPr/>
        </p:nvSpPr>
        <p:spPr>
          <a:xfrm>
            <a:off x="731520" y="5065776"/>
            <a:ext cx="457200" cy="457200"/>
          </a:xfrm>
          <a:prstGeom prst="ellipse">
            <a:avLst/>
          </a:prstGeom>
          <a:solidFill>
            <a:srgbClr val="E08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5"/>
          <p:cNvSpPr/>
          <p:nvPr/>
        </p:nvSpPr>
        <p:spPr>
          <a:xfrm>
            <a:off x="731520" y="5074920"/>
            <a:ext cx="457200" cy="429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5"/>
          <p:cNvSpPr/>
          <p:nvPr/>
        </p:nvSpPr>
        <p:spPr>
          <a:xfrm>
            <a:off x="1371600" y="5001768"/>
            <a:ext cx="493776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250"/>
              <a:buFont typeface="Arial"/>
              <a:buNone/>
            </a:pPr>
            <a:r>
              <a:rPr lang="en-US" sz="1250" b="0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Escribe una recomendación de una frase para la gerencia, apoyada en uno de tus números.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6355080" y="5148072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5 min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7498080" y="2148840"/>
            <a:ext cx="4160520" cy="3611880"/>
          </a:xfrm>
          <a:prstGeom prst="roundRect">
            <a:avLst>
              <a:gd name="adj" fmla="val 2532"/>
            </a:avLst>
          </a:prstGeom>
          <a:solidFill>
            <a:srgbClr val="013A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3" name="Google Shape;403;p1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18120" y="2468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15"/>
          <p:cNvSpPr/>
          <p:nvPr/>
        </p:nvSpPr>
        <p:spPr>
          <a:xfrm>
            <a:off x="8412480" y="251460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Entregable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5"/>
          <p:cNvSpPr/>
          <p:nvPr/>
        </p:nvSpPr>
        <p:spPr>
          <a:xfrm>
            <a:off x="7818120" y="3063240"/>
            <a:ext cx="356616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F1F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E6F1F7"/>
                </a:solidFill>
                <a:latin typeface="Arial"/>
                <a:ea typeface="Arial"/>
                <a:cs typeface="Arial"/>
                <a:sym typeface="Arial"/>
              </a:rPr>
              <a:t>El cuaderno de clase con: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0" marR="0" lvl="0" indent="-127000" algn="l" rtl="0">
              <a:spcBef>
                <a:spcPts val="800"/>
              </a:spcBef>
              <a:spcAft>
                <a:spcPts val="0"/>
              </a:spcAft>
              <a:buClr>
                <a:srgbClr val="E6F1F7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E6F1F7"/>
                </a:solidFill>
                <a:latin typeface="Arial"/>
                <a:ea typeface="Arial"/>
                <a:cs typeface="Arial"/>
                <a:sym typeface="Arial"/>
              </a:rPr>
              <a:t>Los límites y los atípicos de distancia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0" marR="0" lvl="0" indent="-127000" algn="l" rtl="0">
              <a:spcBef>
                <a:spcPts val="600"/>
              </a:spcBef>
              <a:spcAft>
                <a:spcPts val="0"/>
              </a:spcAft>
              <a:buClr>
                <a:srgbClr val="E6F1F7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E6F1F7"/>
                </a:solidFill>
                <a:latin typeface="Arial"/>
                <a:ea typeface="Arial"/>
                <a:cs typeface="Arial"/>
                <a:sym typeface="Arial"/>
              </a:rPr>
              <a:t>Las dos probabilidades comparadas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0" marR="0" lvl="0" indent="-127000" algn="l" rtl="0">
              <a:spcBef>
                <a:spcPts val="600"/>
              </a:spcBef>
              <a:spcAft>
                <a:spcPts val="0"/>
              </a:spcAft>
              <a:buClr>
                <a:srgbClr val="E6F1F7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E6F1F7"/>
                </a:solidFill>
                <a:latin typeface="Arial"/>
                <a:ea typeface="Arial"/>
                <a:cs typeface="Arial"/>
                <a:sym typeface="Arial"/>
              </a:rPr>
              <a:t>Una recomendación con su número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5"/>
          <p:cNvSpPr/>
          <p:nvPr/>
        </p:nvSpPr>
        <p:spPr>
          <a:xfrm>
            <a:off x="7818120" y="4983480"/>
            <a:ext cx="35661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0DE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A0DE"/>
                </a:solidFill>
                <a:latin typeface="Arial"/>
                <a:ea typeface="Arial"/>
                <a:cs typeface="Arial"/>
                <a:sym typeface="Arial"/>
              </a:rPr>
              <a:t>Son los mismos pasos de la clase: si te pierdes, vuelve al ejemplo resuelto de cada sección.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5"/>
          <p:cNvSpPr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50"/>
              <a:buFont typeface="Arial"/>
              <a:buNone/>
            </a:pPr>
            <a:r>
              <a:rPr lang="en-US" sz="1250" b="0" i="1" u="none" strike="noStrike" cap="non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La actividad está al final del cuaderno de clase, en la sección Actividad para la casa.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16" descr="assets/banda_superio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889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16"/>
          <p:cNvSpPr/>
          <p:nvPr/>
        </p:nvSpPr>
        <p:spPr>
          <a:xfrm>
            <a:off x="502920" y="115214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CIERRE · 20 MIN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6"/>
          <p:cNvSpPr/>
          <p:nvPr/>
        </p:nvSpPr>
        <p:spPr>
          <a:xfrm>
            <a:off x="502920" y="1426464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Cierre: ¿qué le recomendamos a la gerencia?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6"/>
          <p:cNvSpPr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Bootcamp de Ciencia de Datos · Clase 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6"/>
          <p:cNvSpPr/>
          <p:nvPr/>
        </p:nvSpPr>
        <p:spPr>
          <a:xfrm>
            <a:off x="502920" y="2103120"/>
            <a:ext cx="3575304" cy="2743200"/>
          </a:xfrm>
          <a:prstGeom prst="roundRect">
            <a:avLst>
              <a:gd name="adj" fmla="val 3333"/>
            </a:avLst>
          </a:prstGeom>
          <a:solidFill>
            <a:srgbClr val="E8F4F9"/>
          </a:solidFill>
          <a:ln w="12700" cap="flat" cmpd="sng">
            <a:solidFill>
              <a:srgbClr val="D7E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8" name="Google Shape;418;p1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2960" y="242316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16"/>
          <p:cNvSpPr/>
          <p:nvPr/>
        </p:nvSpPr>
        <p:spPr>
          <a:xfrm>
            <a:off x="822960" y="3108960"/>
            <a:ext cx="29718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550"/>
              <a:buFont typeface="Arial"/>
              <a:buNone/>
            </a:pPr>
            <a:r>
              <a:rPr lang="en-US" sz="155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Valor típico del pedido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6"/>
          <p:cNvSpPr/>
          <p:nvPr/>
        </p:nvSpPr>
        <p:spPr>
          <a:xfrm>
            <a:off x="822960" y="3547872"/>
            <a:ext cx="29718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Reportar la mediana, unos $41.000, y no la media que infla un pedido corporativo.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6"/>
          <p:cNvSpPr/>
          <p:nvPr/>
        </p:nvSpPr>
        <p:spPr>
          <a:xfrm>
            <a:off x="4306824" y="2103120"/>
            <a:ext cx="3575304" cy="2743200"/>
          </a:xfrm>
          <a:prstGeom prst="roundRect">
            <a:avLst>
              <a:gd name="adj" fmla="val 3333"/>
            </a:avLst>
          </a:prstGeom>
          <a:solidFill>
            <a:srgbClr val="E8F4F9"/>
          </a:solidFill>
          <a:ln w="12700" cap="flat" cmpd="sng">
            <a:solidFill>
              <a:srgbClr val="D7E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2" name="Google Shape;422;p1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26864" y="242316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16"/>
          <p:cNvSpPr/>
          <p:nvPr/>
        </p:nvSpPr>
        <p:spPr>
          <a:xfrm>
            <a:off x="4626864" y="3108960"/>
            <a:ext cx="29718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550"/>
              <a:buFont typeface="Arial"/>
              <a:buNone/>
            </a:pPr>
            <a:r>
              <a:rPr lang="en-US" sz="155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Sucursal Sur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6"/>
          <p:cNvSpPr/>
          <p:nvPr/>
        </p:nvSpPr>
        <p:spPr>
          <a:xfrm>
            <a:off x="4626864" y="3547872"/>
            <a:ext cx="29718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Su IQR duplica el de Norte y llega tarde el 21,2 % de las veces, frente al 12,1 % general.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6"/>
          <p:cNvSpPr/>
          <p:nvPr/>
        </p:nvSpPr>
        <p:spPr>
          <a:xfrm>
            <a:off x="8110728" y="2103120"/>
            <a:ext cx="3575304" cy="2743200"/>
          </a:xfrm>
          <a:prstGeom prst="roundRect">
            <a:avLst>
              <a:gd name="adj" fmla="val 3333"/>
            </a:avLst>
          </a:prstGeom>
          <a:solidFill>
            <a:srgbClr val="E8F4F9"/>
          </a:solidFill>
          <a:ln w="12700" cap="flat" cmpd="sng">
            <a:solidFill>
              <a:srgbClr val="D7E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6" name="Google Shape;426;p1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30768" y="242316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16"/>
          <p:cNvSpPr/>
          <p:nvPr/>
        </p:nvSpPr>
        <p:spPr>
          <a:xfrm>
            <a:off x="8430768" y="3108960"/>
            <a:ext cx="29718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550"/>
              <a:buFont typeface="Arial"/>
              <a:buNone/>
            </a:pPr>
            <a:r>
              <a:rPr lang="en-US" sz="155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Días de lluvia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6"/>
          <p:cNvSpPr/>
          <p:nvPr/>
        </p:nvSpPr>
        <p:spPr>
          <a:xfrm>
            <a:off x="8430768" y="3547872"/>
            <a:ext cx="29718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El riesgo de llegar tarde pasa de 6,2 % a 28,1 %: conviene reforzar repartidores.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6"/>
          <p:cNvSpPr/>
          <p:nvPr/>
        </p:nvSpPr>
        <p:spPr>
          <a:xfrm>
            <a:off x="502920" y="5166360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 cap="flat" cmpd="sng">
            <a:solidFill>
              <a:srgbClr val="E08A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16"/>
          <p:cNvSpPr/>
          <p:nvPr/>
        </p:nvSpPr>
        <p:spPr>
          <a:xfrm>
            <a:off x="777240" y="534924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8A00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E08A00"/>
                </a:solidFill>
                <a:latin typeface="Arial"/>
                <a:ea typeface="Arial"/>
                <a:cs typeface="Arial"/>
                <a:sym typeface="Arial"/>
              </a:rPr>
              <a:t>Pregunta de cierre: vuelve a tu respuesta sobre el salario promedio. ¿La cambiarías después de hoy?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17" descr="assets/banda_superio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889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17"/>
          <p:cNvSpPr/>
          <p:nvPr/>
        </p:nvSpPr>
        <p:spPr>
          <a:xfrm>
            <a:off x="502920" y="1152144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RECAPITULEMOS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7"/>
          <p:cNvSpPr/>
          <p:nvPr/>
        </p:nvSpPr>
        <p:spPr>
          <a:xfrm>
            <a:off x="502920" y="1426464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Las 4 ideas que se llevan hoy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7"/>
          <p:cNvSpPr/>
          <p:nvPr/>
        </p:nvSpPr>
        <p:spPr>
          <a:xfrm>
            <a:off x="8595360" y="64739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8A99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E8A99"/>
                </a:solidFill>
                <a:latin typeface="Arial"/>
                <a:ea typeface="Arial"/>
                <a:cs typeface="Arial"/>
                <a:sym typeface="Arial"/>
              </a:rPr>
              <a:t>Bootcamp de Ciencia de Datos · Clase 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7"/>
          <p:cNvSpPr/>
          <p:nvPr/>
        </p:nvSpPr>
        <p:spPr>
          <a:xfrm>
            <a:off x="502920" y="2148840"/>
            <a:ext cx="5440680" cy="1737360"/>
          </a:xfrm>
          <a:prstGeom prst="roundRect">
            <a:avLst>
              <a:gd name="adj" fmla="val 5263"/>
            </a:avLst>
          </a:prstGeom>
          <a:solidFill>
            <a:srgbClr val="E8F4F9"/>
          </a:solidFill>
          <a:ln w="12700" cap="flat" cmpd="sng">
            <a:solidFill>
              <a:srgbClr val="D7E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17"/>
          <p:cNvSpPr/>
          <p:nvPr/>
        </p:nvSpPr>
        <p:spPr>
          <a:xfrm>
            <a:off x="777240" y="2377440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7"/>
          <p:cNvSpPr/>
          <p:nvPr/>
        </p:nvSpPr>
        <p:spPr>
          <a:xfrm>
            <a:off x="1737360" y="2377440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El promedio no siempre es el valor típico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7"/>
          <p:cNvSpPr/>
          <p:nvPr/>
        </p:nvSpPr>
        <p:spPr>
          <a:xfrm>
            <a:off x="1737360" y="2953512"/>
            <a:ext cx="40233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Con valores extremos, la mediana representa mejor a la mayoría.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7"/>
          <p:cNvSpPr/>
          <p:nvPr/>
        </p:nvSpPr>
        <p:spPr>
          <a:xfrm>
            <a:off x="6217920" y="2148840"/>
            <a:ext cx="5440680" cy="1737360"/>
          </a:xfrm>
          <a:prstGeom prst="roundRect">
            <a:avLst>
              <a:gd name="adj" fmla="val 5263"/>
            </a:avLst>
          </a:prstGeom>
          <a:solidFill>
            <a:srgbClr val="E8F4F9"/>
          </a:solidFill>
          <a:ln w="12700" cap="flat" cmpd="sng">
            <a:solidFill>
              <a:srgbClr val="D7E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17"/>
          <p:cNvSpPr/>
          <p:nvPr/>
        </p:nvSpPr>
        <p:spPr>
          <a:xfrm>
            <a:off x="6492240" y="2377440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7"/>
          <p:cNvSpPr/>
          <p:nvPr/>
        </p:nvSpPr>
        <p:spPr>
          <a:xfrm>
            <a:off x="7452360" y="2377440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El centro no basta sin la dispersión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7"/>
          <p:cNvSpPr/>
          <p:nvPr/>
        </p:nvSpPr>
        <p:spPr>
          <a:xfrm>
            <a:off x="7452360" y="2953512"/>
            <a:ext cx="40233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Dos sucursales con el mismo promedio pueden ser muy distintas en confiabilidad.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7"/>
          <p:cNvSpPr/>
          <p:nvPr/>
        </p:nvSpPr>
        <p:spPr>
          <a:xfrm>
            <a:off x="502920" y="4069080"/>
            <a:ext cx="5440680" cy="1737360"/>
          </a:xfrm>
          <a:prstGeom prst="roundRect">
            <a:avLst>
              <a:gd name="adj" fmla="val 5263"/>
            </a:avLst>
          </a:prstGeom>
          <a:solidFill>
            <a:srgbClr val="E8F4F9"/>
          </a:solidFill>
          <a:ln w="12700" cap="flat" cmpd="sng">
            <a:solidFill>
              <a:srgbClr val="D7E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17"/>
          <p:cNvSpPr/>
          <p:nvPr/>
        </p:nvSpPr>
        <p:spPr>
          <a:xfrm>
            <a:off x="777240" y="4297680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7"/>
          <p:cNvSpPr/>
          <p:nvPr/>
        </p:nvSpPr>
        <p:spPr>
          <a:xfrm>
            <a:off x="1737360" y="4297680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Correlación no es causalidad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7"/>
          <p:cNvSpPr/>
          <p:nvPr/>
        </p:nvSpPr>
        <p:spPr>
          <a:xfrm>
            <a:off x="1737360" y="4873752"/>
            <a:ext cx="40233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Antes de culpar a una variable, busca la que se mueve con ambas.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7"/>
          <p:cNvSpPr/>
          <p:nvPr/>
        </p:nvSpPr>
        <p:spPr>
          <a:xfrm>
            <a:off x="6217920" y="4069080"/>
            <a:ext cx="5440680" cy="1737360"/>
          </a:xfrm>
          <a:prstGeom prst="roundRect">
            <a:avLst>
              <a:gd name="adj" fmla="val 5263"/>
            </a:avLst>
          </a:prstGeom>
          <a:solidFill>
            <a:srgbClr val="E8F4F9"/>
          </a:solidFill>
          <a:ln w="12700" cap="flat" cmpd="sng">
            <a:solidFill>
              <a:srgbClr val="D7E3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7"/>
          <p:cNvSpPr/>
          <p:nvPr/>
        </p:nvSpPr>
        <p:spPr>
          <a:xfrm>
            <a:off x="6492240" y="4297680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9C7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0089C7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7"/>
          <p:cNvSpPr/>
          <p:nvPr/>
        </p:nvSpPr>
        <p:spPr>
          <a:xfrm>
            <a:off x="7452360" y="4297680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3A52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013A52"/>
                </a:solidFill>
                <a:latin typeface="Arial"/>
                <a:ea typeface="Arial"/>
                <a:cs typeface="Arial"/>
                <a:sym typeface="Arial"/>
              </a:rPr>
              <a:t>La probabilidad cambia según el grupo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7"/>
          <p:cNvSpPr/>
          <p:nvPr/>
        </p:nvSpPr>
        <p:spPr>
          <a:xfrm>
            <a:off x="7452360" y="4873752"/>
            <a:ext cx="40233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667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56670"/>
                </a:solidFill>
                <a:latin typeface="Arial"/>
                <a:ea typeface="Arial"/>
                <a:cs typeface="Arial"/>
                <a:sym typeface="Arial"/>
              </a:rPr>
              <a:t>Filtrar por una condición revela riesgos que el total esconde.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7"/>
          <p:cNvSpPr/>
          <p:nvPr/>
        </p:nvSpPr>
        <p:spPr>
          <a:xfrm>
            <a:off x="502920" y="617220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8A00"/>
              </a:buClr>
              <a:buSzPts val="1300"/>
              <a:buFont typeface="Arial"/>
              <a:buNone/>
            </a:pPr>
            <a:r>
              <a:rPr lang="en-US" sz="1300" b="0" i="1" u="none" strike="noStrike" cap="none">
                <a:solidFill>
                  <a:srgbClr val="E08A00"/>
                </a:solidFill>
                <a:latin typeface="Arial"/>
                <a:ea typeface="Arial"/>
                <a:cs typeface="Arial"/>
                <a:sym typeface="Arial"/>
              </a:rPr>
              <a:t>Mini-reto de salida (1 frase): explícale a alguien por qué la mediana del salario dice más que el promedio.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2025</Words>
  <Application>Microsoft Office PowerPoint</Application>
  <PresentationFormat>Personalizado</PresentationFormat>
  <Paragraphs>238</Paragraphs>
  <Slides>14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Viviana Gonzalez</cp:lastModifiedBy>
  <cp:revision>3</cp:revision>
  <dcterms:modified xsi:type="dcterms:W3CDTF">2026-10-22T22:51:36Z</dcterms:modified>
</cp:coreProperties>
</file>
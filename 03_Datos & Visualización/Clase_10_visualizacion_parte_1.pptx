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2" r:id="rId11"/>
    <p:sldId id="273" r:id="rId22"/>
    <p:sldId id="263" r:id="rId12"/>
    <p:sldId id="264" r:id="rId13"/>
    <p:sldId id="272" r:id="rId21"/>
    <p:sldId id="267" r:id="rId16"/>
    <p:sldId id="268" r:id="rId17"/>
    <p:sldId id="270" r:id="rId19"/>
    <p:sldId id="271" r:id="rId20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6.xml"/>  <Relationship Id="rId21" Type="http://schemas.openxmlformats.org/officeDocument/2006/relationships/slide" Target="slides/slide17.xml"/>
  <Relationship Id="rId22" Type="http://schemas.openxmlformats.org/officeDocument/2006/relationships/slide" Target="slides/slide18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Clase 10 · Visualización parte 1. Material: cuaderno visualizacion-1-estudiante.ipynb. Los datos (tips y flights) se cargan desde Seaborn, no hay que subir archivos.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Clase guiada: el docente ejecuta cada celda del cuaderno y explica la pregunta que responde cada gráfico. La actividad final se hace en clase.</a:t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Chequeo rápido: barras con la propina promedio por día. Si alguien dice línea, preguntar si los días tienen un orden que importe para la pregunta.</a:t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el cuaderno, el gráfico de suma de propinas por momento del día sirve para discutir suma frente a promedio: la cena suma más porque hay más cenas, no solo porque dejen más.</a:t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/>
            </a:r>
            <a:endParaRPr/>
          </a:p>
        </p:txBody>
      </p:sp>
      <p:sp>
        <p:nvSpPr>
          <p:cNvPr id="357" name="Google Shape;3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Actividad abierta: cada estudiante elige las variables de tips. Sugerencias: barras de propina promedio por día o por fumadores; dispersión de size contra tip; cajas de tip según time, donde la cena muestra atípicos de hasta 10 dólares.</a:t>
            </a:r>
            <a:endParaRPr/>
          </a:p>
        </p:txBody>
      </p:sp>
      <p:sp>
        <p:nvSpPr>
          <p:cNvPr id="376" name="Google Shape;3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Mini-reto: porque comparamos longitudes; si el eje no empieza en cero, las longitudes no son proporcionales a los valores.</a:t>
            </a:r>
            <a:endParaRPr/>
          </a:p>
        </p:txBody>
      </p:sp>
      <p:sp>
        <p:nvSpPr>
          <p:cNvPr id="434" name="Google Shape;4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/>
            </a:r>
            <a:endParaRPr/>
          </a:p>
        </p:txBody>
      </p:sp>
      <p:sp>
        <p:nvSpPr>
          <p:cNvPr id="460" name="Google Shape;46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4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8.png"/><Relationship Id="rId6" Type="http://schemas.openxmlformats.org/officeDocument/2006/relationships/image" Target="../media/image20.png"/><Relationship Id="rId7" Type="http://schemas.openxmlformats.org/officeDocument/2006/relationships/image" Target="../media/image3.png"/><Relationship Id="rId8" Type="http://schemas.openxmlformats.org/officeDocument/2006/relationships/image" Target="../media/image42.png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portada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blanco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84048"/>
            <a:ext cx="123444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0292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MÓDULO 3 · VISUALIZACIÓN Y BUSINESS INTELLIGENCE · CLASE 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269748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Visualización de datos con Python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36118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Parte 1: introducción a las librerías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4663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Bootcamp de Ciencia de Datos · 2 horas · Principios de una buena visualización y primeros gráficos con Matplotlib y Seaborn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BIENVENIDA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mapa del bootcamp: 6 módulos, 33 clases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02920" y="21488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85800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Fundamentos y Mentalidad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5800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0E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281928" y="21488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013A52"/>
          </a:solidFill>
          <a:ln cap="flat" cmpd="sng" w="12700">
            <a:solidFill>
              <a:srgbClr val="01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64808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MÓDULO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64808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Visualización y Business Intelligence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64808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FE0EC"/>
                </a:solidFill>
                <a:latin typeface="Arial"/>
                <a:ea typeface="Arial"/>
                <a:cs typeface="Arial"/>
                <a:sym typeface="Arial"/>
              </a:rPr>
              <a:t>Estamos aquí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392424" y="21488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575304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575304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Python para Análisis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575304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171432" y="21488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9354312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354312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Extracción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354312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Bases de datos, SQL, APIs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02920" y="370332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85800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85800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Machine Learning Básico y Aplicado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85800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Clasificación, regresión, clustering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392424" y="370332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575304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575304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Proyecto Final y Cierre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575304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Deep Learning, NLP, tu proyecto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281928" y="370332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464808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33 CLASES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464808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Tu recorrido completo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464808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Mayo a septiembre, 2 clases por semana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9171432" y="370332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5875">
            <a:solidFill>
              <a:srgbClr val="E0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9354312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CÓMO TRABAJAMOS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9354312" y="4105656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Teoría + práctica en cada módulo · talleres integradores · proyecto final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Hoy empiezas a mostrar los datos con gráficos: la base del EDA y de los tableros en Power BI.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POR QUÉ HOY IMPORTA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 gráfico se entiende en segundos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02920" y="2103120"/>
            <a:ext cx="5029200" cy="3977640"/>
          </a:xfrm>
          <a:prstGeom prst="roundRect">
            <a:avLst>
              <a:gd fmla="val 2299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600200" y="2441448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la tabla a la imagen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68680" y="320040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Lo que un buen gráfico permite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68680" y="3977640"/>
            <a:ext cx="4343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Una tabla de 244 filas no se puede leer de un vistazo; un gráfico sí.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Un patrón, como una tendencia o un grupo distinto, aparece de inmediato.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Una edad de 999 o un valor negativo saltan a la vista en un diagrama de cajas.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Quien decide no lee el código: lee el gráfico y su título.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989320" y="2103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¿Por qué justo ahora?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989320" y="2606040"/>
            <a:ext cx="5669280" cy="1051560"/>
          </a:xfrm>
          <a:prstGeom prst="roundRect">
            <a:avLst>
              <a:gd fmla="val 7826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2907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6903720" y="275234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Ya sabes resumir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903720" y="30632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Promedios, medianas y percentiles: hoy los conviertes en imágenes.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989320" y="3813048"/>
            <a:ext cx="5669280" cy="1051560"/>
          </a:xfrm>
          <a:prstGeom prst="roundRect">
            <a:avLst>
              <a:gd fmla="val 7826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364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6903720" y="39593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Cada pregunta pide un gráfico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903720" y="4270248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Comparar, ver una distribución o una relación: cada caso tiene su forma.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989320" y="5020056"/>
            <a:ext cx="5669280" cy="1051560"/>
          </a:xfrm>
          <a:prstGeom prst="roundRect">
            <a:avLst>
              <a:gd fmla="val 7826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3640" y="5321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6903720" y="5166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Prepara el EDA y Power BI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903720" y="5477256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El análisis exploratorio y los tableros se construyen con estos mismos gráficos.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989320" y="621792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Hoy aprendes a elegir el gráfico correcto y a hacerlo con Python.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CLASE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Lo que vamos a lograr hoy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" y="2148840"/>
            <a:ext cx="3575304" cy="3291840"/>
          </a:xfrm>
          <a:prstGeom prst="roundRect">
            <a:avLst>
              <a:gd fmla="val 277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22960" y="2514600"/>
            <a:ext cx="868680" cy="8686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8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128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3118104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22960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Elegir el gráfico correcto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22960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Relacionar cada tipo de pregunta con el gráfico que mejor la responde y evitar los errores comunes.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306824" y="2148840"/>
            <a:ext cx="3575304" cy="3291840"/>
          </a:xfrm>
          <a:prstGeom prst="roundRect">
            <a:avLst>
              <a:gd fmla="val 277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626864" y="2514600"/>
            <a:ext cx="868680" cy="8686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8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8032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6922008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626864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Graficar con Matplotlib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26864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Hacer barras, torta, dispersión, línea e histograma, con título y ejes claros.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110728" y="2148840"/>
            <a:ext cx="3575304" cy="3291840"/>
          </a:xfrm>
          <a:prstGeom prst="roundRect">
            <a:avLst>
              <a:gd fmla="val 277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430768" y="2514600"/>
            <a:ext cx="868680" cy="8686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8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1936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10725912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430768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Graficar con Seaborn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430768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Usar barplot, histplot, boxplot y violinplot directamente sobre un DataFrame.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Al final de la clase: tres gráficos propios, cada uno con su pregunta, su título y su lectura.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CLASE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Cronograma de hoy · 2 horas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02920" y="2148840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77240" y="222199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00:00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920240" y="22219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Apertura: ¿por qué visualizar datos?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0241280" y="222199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02920" y="2843784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77240" y="291693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00:15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920240" y="2916936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Principios y cómo elegir el gráfico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241280" y="2916936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20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02920" y="3538728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77240" y="36118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00:35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920240" y="3611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Matplotlib: barras, torta, dispersión y línea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241280" y="36118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25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02920" y="4233672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777240" y="4306824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01:00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920240" y="43068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Seaborn: histograma, cajas y violín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241280" y="4306824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25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02920" y="4928616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08A00"/>
          </a:solidFill>
          <a:ln cap="flat" cmpd="sng" w="12700">
            <a:solidFill>
              <a:srgbClr val="E0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77240" y="5001768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01:25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920240" y="50017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Actividad: tres gráficos en el cuaderno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241280" y="50017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" y="5623560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77240" y="569671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01:50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920240" y="569671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241280" y="569671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10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VISUALIZACIÓN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Entonces, ¿qué es visualizar datos?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02920" y="2103120"/>
            <a:ext cx="11155680" cy="914400"/>
          </a:xfrm>
          <a:prstGeom prst="roundRect">
            <a:avLst>
              <a:gd fmla="val 9000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868680" y="22860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Representar datos con elementos gráficos, como la posición, la longitud o el color, para que una persona perciba patrones y diferencias más rápido que leyendo números.</a:t>
            </a:r>
            <a:r>
              <a:rPr b="1" i="0" lang="en-US" sz="17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02920" y="3291840"/>
            <a:ext cx="2679192" cy="2606040"/>
          </a:xfrm>
          <a:prstGeom prst="roundRect">
            <a:avLst>
              <a:gd fmla="val 3509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8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795528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Detectar patrones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95528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Tendencias, grupos distintos y relaciones entre variables.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364992" y="3291840"/>
            <a:ext cx="2679192" cy="2606040"/>
          </a:xfrm>
          <a:prstGeom prst="roundRect">
            <a:avLst>
              <a:gd fmla="val 3509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0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3657600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Comunicar hallazgos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657600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 quien no va a leer el código ni la tabla.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227064" y="3291840"/>
            <a:ext cx="2679192" cy="2606040"/>
          </a:xfrm>
          <a:prstGeom prst="roundRect">
            <a:avLst>
              <a:gd fmla="val 3509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9672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6519672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Tomar decisiones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519672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Con más rapidez y menos discusión.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9089136" y="3291840"/>
            <a:ext cx="2679192" cy="2606040"/>
          </a:xfrm>
          <a:prstGeom prst="roundRect">
            <a:avLst>
              <a:gd fmla="val 3509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81744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9381744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Encontrar errores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9381744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Valores imposibles que en una tabla larga no se ven.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Chequeo rápido: si quieres mostrar a la gerencia qué día deja mejor propina, ¿qué gráfico usarías?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VISUALIZACIÓN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Tres principios de una buena visualización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02920" y="2103120"/>
            <a:ext cx="3575304" cy="4023360"/>
          </a:xfrm>
          <a:prstGeom prst="roundRect">
            <a:avLst>
              <a:gd fmla="val 2558" name="adj"/>
            </a:avLst>
          </a:prstGeom>
          <a:solidFill>
            <a:srgbClr val="FFFFFF"/>
          </a:solidFill>
          <a:ln cap="flat" cmpd="sng" w="15875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9C6CE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95528" y="237744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008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1737360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Claridad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737360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Menos es más.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95528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Quita bordes y fondos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Pocos colores, con razón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Una idea por gráfico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795528" y="5230368"/>
            <a:ext cx="2990088" cy="731520"/>
          </a:xfrm>
          <a:prstGeom prst="roundRect">
            <a:avLst>
              <a:gd fmla="val 10000" name="adj"/>
            </a:avLst>
          </a:prstGeom>
          <a:solidFill>
            <a:srgbClr val="E8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960120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Claridad antes que estética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306824" y="2103120"/>
            <a:ext cx="3575304" cy="4023360"/>
          </a:xfrm>
          <a:prstGeom prst="roundRect">
            <a:avLst>
              <a:gd fmla="val 2558" name="adj"/>
            </a:avLst>
          </a:prstGeom>
          <a:solidFill>
            <a:srgbClr val="FFFFFF"/>
          </a:solidFill>
          <a:ln cap="flat" cmpd="sng" w="15875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9C6CE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99432" y="237744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4024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5541264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541264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Que se entienda solo.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99432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Título que diga qué muestra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Ejes con nombre y unidad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Leyenda si hay colores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99432" y="5230368"/>
            <a:ext cx="2990088" cy="731520"/>
          </a:xfrm>
          <a:prstGeom prst="roundRect">
            <a:avLst>
              <a:gd fmla="val 10000" name="adj"/>
            </a:avLst>
          </a:prstGeom>
          <a:solidFill>
            <a:srgbClr val="E8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764024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Título, ejes y leyenda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110728" y="2103120"/>
            <a:ext cx="3575304" cy="4023360"/>
          </a:xfrm>
          <a:prstGeom prst="roundRect">
            <a:avLst>
              <a:gd fmla="val 2558" name="adj"/>
            </a:avLst>
          </a:prstGeom>
          <a:solidFill>
            <a:srgbClr val="FFFFFF"/>
          </a:solidFill>
          <a:ln cap="flat" cmpd="sng" w="15875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9C6CE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8403336" y="237744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67928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/>
          <p:nvPr/>
        </p:nvSpPr>
        <p:spPr>
          <a:xfrm>
            <a:off x="9345168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Sin distorsión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9345168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Mostrar la verdad.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403336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Barras desde cero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Escalas sin recortar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Torta solo con pocas partes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403336" y="5230368"/>
            <a:ext cx="2990088" cy="731520"/>
          </a:xfrm>
          <a:prstGeom prst="roundRect">
            <a:avLst>
              <a:gd fmla="val 10000" name="adj"/>
            </a:avLst>
          </a:prstGeom>
          <a:solidFill>
            <a:srgbClr val="E8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8567928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La línea base en cero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Antes de entregar: ¿tiene título?, ¿ejes con nombre?, ¿es el gráfico correcto?, ¿responde una pregunta?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VISUALIZACIÓN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Errores comunes que debes evitar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02920" y="2148840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777240" y="2276856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234440" y="2276856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Demasiados colores, sin un significado.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0195560" y="2267712"/>
            <a:ext cx="1280160" cy="438912"/>
          </a:xfrm>
          <a:prstGeom prst="roundRect">
            <a:avLst>
              <a:gd fmla="val 16667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10195560" y="22860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a 5 colores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02920" y="2935224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777240" y="30632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234440" y="306324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Ejes sin nombre o sin unidades.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195560" y="3054096"/>
            <a:ext cx="1280160" cy="438912"/>
          </a:xfrm>
          <a:prstGeom prst="roundRect">
            <a:avLst>
              <a:gd fmla="val 16667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0195560" y="307238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xlabel / ylabel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0" y="3721608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777240" y="384962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234440" y="3849624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 eje de barras que no empieza en cero.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195560" y="3840480"/>
            <a:ext cx="1280160" cy="438912"/>
          </a:xfrm>
          <a:prstGeom prst="roundRect">
            <a:avLst>
              <a:gd fmla="val 16667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10195560" y="385876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ylim(0, …)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02920" y="4507992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77240" y="4636008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234440" y="4636008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Una torta con muchas partes: el ojo compara mal los ángulos.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0195560" y="4626864"/>
            <a:ext cx="1280160" cy="438912"/>
          </a:xfrm>
          <a:prstGeom prst="roundRect">
            <a:avLst>
              <a:gd fmla="val 16667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10195560" y="464515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mejor barras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02920" y="5294376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77240" y="542239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1234440" y="5422392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Una línea que une categorías sin orden, como sucursales.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0195560" y="5413248"/>
            <a:ext cx="1280160" cy="438912"/>
          </a:xfrm>
          <a:prstGeom prst="roundRect">
            <a:avLst>
              <a:gd fmla="val 16667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10195560" y="543153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solo tiempo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Un gráfico sin una pregunta clara no comunica nada, por bonito que sea.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359" name="Google Shape;3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4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VISUALIZACIÓN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color con propósito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02920" y="2103120"/>
            <a:ext cx="5120640" cy="3977640"/>
          </a:xfrm>
          <a:prstGeom prst="roundRect">
            <a:avLst>
              <a:gd fmla="val 2299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868680" y="310896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Atrae la mirada sin esfuerzo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68680" y="388620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El color es un atributo preatentivo: el ojo lo detecta antes de prestar atención. Si todo tiene color, nada resalta. Si todo es gris menos una barra, el lector sabe de inmediato dónde mirar.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68680" y="54406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Usa entre 3 y 5 colores, cada uno con un significado.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080760" y="212140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 ejemplo aplicado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6080760" y="2514600"/>
            <a:ext cx="5577840" cy="2331720"/>
          </a:xfrm>
          <a:prstGeom prst="roundRect">
            <a:avLst>
              <a:gd fmla="val 3529" name="adj"/>
            </a:avLst>
          </a:prstGeom>
          <a:solidFill>
            <a:srgbClr val="F4F9FC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355080" y="269748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56670"/>
                </a:solidFill>
                <a:latin typeface="Arial"/>
                <a:ea typeface="Courier New"/>
                <a:cs typeface="Courier New"/>
                <a:sym typeface="Courier New"/>
              </a:rPr>
              <a:t>En el cuaderno, la propina promedio del domingo va en azul y los demás días en gris. El título no dice solo qué muestra el gráfico, sino la conclusión: "El domingo deja la mejor propina promedio".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6080760" y="5029200"/>
            <a:ext cx="557784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5875">
            <a:solidFill>
              <a:srgbClr val="E0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6355080" y="52120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Dato: </a:t>
            </a: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usa el mismo color para lo mismo en todos los gráficos de un informe.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378" name="Google Shape;3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5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MANOS A LA OBRA · 25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Actividad: tres gráficos en el cuaderno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02920" y="2148840"/>
            <a:ext cx="6675120" cy="804672"/>
          </a:xfrm>
          <a:prstGeom prst="roundRect">
            <a:avLst>
              <a:gd fmla="val 909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731520" y="23225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731520" y="23317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371600" y="22585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Crea un gráfico de barras para comparar una variable categórica.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6355080" y="24048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8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502920" y="3063240"/>
            <a:ext cx="6675120" cy="804672"/>
          </a:xfrm>
          <a:prstGeom prst="roundRect">
            <a:avLst>
              <a:gd fmla="val 909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731520" y="32369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731520" y="32461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1371600" y="31729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Crea un gráfico de dispersión para comparar dos variables numéricas.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6355080" y="33192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8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502920" y="3977640"/>
            <a:ext cx="6675120" cy="804672"/>
          </a:xfrm>
          <a:prstGeom prst="roundRect">
            <a:avLst>
              <a:gd fmla="val 909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731520" y="41513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731520" y="41605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371600" y="40873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Crea un gráfico de cajas y bigotes para encontrar valores atípicos en una variable numérica.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6355080" y="42336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6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502920" y="4892040"/>
            <a:ext cx="6675120" cy="804672"/>
          </a:xfrm>
          <a:prstGeom prst="roundRect">
            <a:avLst>
              <a:gd fmla="val 909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731520" y="50657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731520" y="50749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371600" y="50017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Revisa cada gráfico con el checklist: título, ejes, tipo correcto y una pregunta.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355080" y="51480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3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7498080" y="2148840"/>
            <a:ext cx="4160520" cy="3611880"/>
          </a:xfrm>
          <a:prstGeom prst="roundRect">
            <a:avLst>
              <a:gd fmla="val 2532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3" name="Google Shape;4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8120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5"/>
          <p:cNvSpPr/>
          <p:nvPr/>
        </p:nvSpPr>
        <p:spPr>
          <a:xfrm>
            <a:off x="8412480" y="25146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7818120" y="306324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Tu cuaderno con: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8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Tres gráficos con título y ejes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6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Una frase que explique cada uno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6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El checklist aplicado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7818120" y="498348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Antes de graficar, escribe la pregunta que quieres responder.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La actividad está al final del cuaderno, después del checklist de buenas visualizaciones.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436" name="Google Shape;4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7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RECAPITULEMOS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Las 4 ideas que se llevan hoy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502920" y="2148840"/>
            <a:ext cx="5440680" cy="1737360"/>
          </a:xfrm>
          <a:prstGeom prst="roundRect">
            <a:avLst>
              <a:gd fmla="val 526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777240" y="237744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1737360" y="23774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Cada pregunta pide su gráfico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1737360" y="29535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Barras para comparar, histograma para distribuir, cajas para atípicos, dispersión para relacionar, línea para el tiempo.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6217920" y="2148840"/>
            <a:ext cx="5440680" cy="1737360"/>
          </a:xfrm>
          <a:prstGeom prst="roundRect">
            <a:avLst>
              <a:gd fmla="val 526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6492240" y="237744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7452360" y="23774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Sin contexto no hay gráfico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7452360" y="29535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Título, ejes con nombre y unidad, y leyenda cuando hay colores.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502920" y="4069080"/>
            <a:ext cx="5440680" cy="1737360"/>
          </a:xfrm>
          <a:prstGeom prst="roundRect">
            <a:avLst>
              <a:gd fmla="val 526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777240" y="42976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173736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color se usa para resaltar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1737360" y="487375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Gris para el contexto y un color para el mensaje.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6217920" y="4069080"/>
            <a:ext cx="5440680" cy="1737360"/>
          </a:xfrm>
          <a:prstGeom prst="roundRect">
            <a:avLst>
              <a:gd fmla="val 526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6492240" y="42976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745236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Matplotlib y Seaborn se complementan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7452360" y="487375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Seaborn calcula y dibuja; Matplotlib ajusta los detalles.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Mini-reto de salida (1 frase): ¿por qué un gráfico de barras debe empezar en cero?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portada.png" id="462" name="Google Shape;4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blanco.png" id="463" name="Google Shape;4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84048"/>
            <a:ext cx="123444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8"/>
          <p:cNvSpPr/>
          <p:nvPr/>
        </p:nvSpPr>
        <p:spPr>
          <a:xfrm>
            <a:off x="502920" y="2468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PRÓXIMA CLASE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502920" y="288036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11 · Visualización, parte 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502920" y="3794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Vas a combinar varios gráficos en una figura, trabajar con un archivo de notas que trae errores y usar los gráficos para contar una historia con datos.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502920" y="5120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359" name="Google Shape;3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4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VISUALIZACIÓN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Entonces, ¿Matplotlib o Seaborn?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02920" y="2103120"/>
            <a:ext cx="5120640" cy="3977640"/>
          </a:xfrm>
          <a:prstGeom prst="roundRect">
            <a:avLst>
              <a:gd fmla="val 2299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868680" y="310896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Matplotlib: la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68680" y="388620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Es la librería base de Python para graficar. Construyes el gráfico paso a paso: primero los datos, luego el título, los ejes y la leyenda. Tú haces los cálculos antes, con groupby.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68680" y="54406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Control total de cada detalle del gráfico.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080760" y="212140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 ejemplo aplicado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6080760" y="2514600"/>
            <a:ext cx="5577840" cy="2331720"/>
          </a:xfrm>
          <a:prstGeom prst="roundRect">
            <a:avLst>
              <a:gd fmla="val 3529" name="adj"/>
            </a:avLst>
          </a:prstGeom>
          <a:solidFill>
            <a:srgbClr val="F4F9FC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355080" y="269748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56670"/>
                </a:solidFill>
                <a:latin typeface="Arial"/>
                <a:ea typeface="Courier New"/>
                <a:cs typeface="Courier New"/>
                <a:sym typeface="Courier New"/>
              </a:rPr>
              <a:t>Seaborn está construida sobre Matplotlib. Recibe el DataFrame y el nombre de las columnas, y calcula sola promedios, conteos y distribuciones. sns.barplot(data=df, x="day", y="tip") hace en una línea lo que en Matplotlib toma tres.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6080760" y="5029200"/>
            <a:ext cx="557784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5875">
            <a:solidFill>
              <a:srgbClr val="E0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6355080" y="52120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Dato: </a:t>
            </a: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en la práctica se usan juntas: Seaborn para dibujar y plt.title, plt.xlabel y plt.ylabel para ajustar.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319" name="Google Shape;3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VISUALIZACIÓN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Cada pregunta tiene su gráfico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02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/>
          <p:nvPr/>
        </p:nvSpPr>
        <p:spPr>
          <a:xfrm>
            <a:off x="731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Comparar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31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Un valor entre categorías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31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Barras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0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3"/>
          <p:cNvSpPr/>
          <p:nvPr/>
        </p:nvSpPr>
        <p:spPr>
          <a:xfrm>
            <a:off x="2788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7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3017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Distribución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017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Cómo se reparten los valores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017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Histograma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5074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/>
          <p:nvPr/>
        </p:nvSpPr>
        <p:spPr>
          <a:xfrm>
            <a:off x="5303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Atípicos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303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Datos fuera de lo normal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303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Cajas y bigotes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/>
          <p:nvPr/>
        </p:nvSpPr>
        <p:spPr>
          <a:xfrm>
            <a:off x="7360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89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3"/>
          <p:cNvSpPr/>
          <p:nvPr/>
        </p:nvSpPr>
        <p:spPr>
          <a:xfrm>
            <a:off x="7589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589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Dos variables numéricas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589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Dispersión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8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/>
          <p:nvPr/>
        </p:nvSpPr>
        <p:spPr>
          <a:xfrm>
            <a:off x="9646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013A52"/>
          </a:solidFill>
          <a:ln cap="flat" cmpd="sng" w="12700">
            <a:solidFill>
              <a:srgbClr val="01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75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/>
          <p:nvPr/>
        </p:nvSpPr>
        <p:spPr>
          <a:xfrm>
            <a:off x="9875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Tiempo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9875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La evolución de un valor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9875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Línea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fmla="val 9412" name="adj"/>
            </a:avLst>
          </a:prstGeom>
          <a:solidFill>
            <a:srgbClr val="E8F4F9"/>
          </a:solidFill>
          <a:ln cap="flat" cmpd="sng" w="12700">
            <a:solidFill>
              <a:srgbClr val="008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Las partes de un total: </a:t>
            </a:r>
            <a:r>
              <a:rPr b="0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barras de porcentaje, o una torta solo cuando hay dos o tres partes.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